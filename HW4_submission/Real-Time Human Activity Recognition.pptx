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y="6858000" cx="12192000"/>
  <p:notesSz cx="6858000" cy="9144000"/>
  <p:embeddedFontLst>
    <p:embeddedFont>
      <p:font typeface="Inter SemiBold"/>
      <p:regular r:id="rId26"/>
      <p:bold r:id="rId27"/>
      <p:italic r:id="rId28"/>
      <p:boldItalic r:id="rId29"/>
    </p:embeddedFont>
    <p:embeddedFont>
      <p:font typeface="Inter"/>
      <p:regular r:id="rId30"/>
      <p:bold r:id="rId31"/>
      <p:italic r:id="rId32"/>
      <p:boldItalic r:id="rId33"/>
    </p:embeddedFont>
    <p:embeddedFont>
      <p:font typeface="Poppins"/>
      <p:regular r:id="rId34"/>
      <p:bold r:id="rId35"/>
      <p:italic r:id="rId36"/>
      <p:boldItalic r:id="rId37"/>
    </p:embeddedFont>
    <p:embeddedFont>
      <p:font typeface="Poppins SemiBold"/>
      <p:regular r:id="rId38"/>
      <p:bold r:id="rId39"/>
      <p:italic r:id="rId40"/>
      <p:boldItalic r:id="rId41"/>
    </p:embeddedFont>
    <p:embeddedFont>
      <p:font typeface="Inter Medium"/>
      <p:regular r:id="rId42"/>
      <p:bold r:id="rId43"/>
      <p:italic r:id="rId44"/>
      <p:boldItalic r:id="rId4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46" roundtripDataSignature="AMtx7mhqK+0g7684oesMpiHdiY6sk67+E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5945B93-F15E-4936-9474-FD1D49B4341A}">
  <a:tblStyle styleId="{25945B93-F15E-4936-9474-FD1D49B4341A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 b="off" i="off"/>
      <a:tcStyle>
        <a:fill>
          <a:solidFill>
            <a:srgbClr val="CFD7E7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CFD7E7"/>
          </a:solidFill>
        </a:fill>
      </a:tcStyle>
    </a:band1V>
    <a:band2V>
      <a:tcTxStyle b="off" i="off"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PoppinsSemiBold-italic.fntdata"/><Relationship Id="rId20" Type="http://schemas.openxmlformats.org/officeDocument/2006/relationships/slide" Target="slides/slide14.xml"/><Relationship Id="rId42" Type="http://schemas.openxmlformats.org/officeDocument/2006/relationships/font" Target="fonts/InterMedium-regular.fntdata"/><Relationship Id="rId41" Type="http://schemas.openxmlformats.org/officeDocument/2006/relationships/font" Target="fonts/PoppinsSemiBold-boldItalic.fntdata"/><Relationship Id="rId22" Type="http://schemas.openxmlformats.org/officeDocument/2006/relationships/slide" Target="slides/slide16.xml"/><Relationship Id="rId44" Type="http://schemas.openxmlformats.org/officeDocument/2006/relationships/font" Target="fonts/InterMedium-italic.fntdata"/><Relationship Id="rId21" Type="http://schemas.openxmlformats.org/officeDocument/2006/relationships/slide" Target="slides/slide15.xml"/><Relationship Id="rId43" Type="http://schemas.openxmlformats.org/officeDocument/2006/relationships/font" Target="fonts/InterMedium-bold.fntdata"/><Relationship Id="rId24" Type="http://schemas.openxmlformats.org/officeDocument/2006/relationships/slide" Target="slides/slide18.xml"/><Relationship Id="rId46" Type="http://customschemas.google.com/relationships/presentationmetadata" Target="metadata"/><Relationship Id="rId23" Type="http://schemas.openxmlformats.org/officeDocument/2006/relationships/slide" Target="slides/slide17.xml"/><Relationship Id="rId45" Type="http://schemas.openxmlformats.org/officeDocument/2006/relationships/font" Target="fonts/InterMedium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InterSemiBold-regular.fntdata"/><Relationship Id="rId25" Type="http://schemas.openxmlformats.org/officeDocument/2006/relationships/slide" Target="slides/slide19.xml"/><Relationship Id="rId28" Type="http://schemas.openxmlformats.org/officeDocument/2006/relationships/font" Target="fonts/InterSemiBold-italic.fntdata"/><Relationship Id="rId27" Type="http://schemas.openxmlformats.org/officeDocument/2006/relationships/font" Target="fonts/InterSemiBold-bold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InterSemiBold-bold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Inter-bold.fntdata"/><Relationship Id="rId30" Type="http://schemas.openxmlformats.org/officeDocument/2006/relationships/font" Target="fonts/Inter-regular.fntdata"/><Relationship Id="rId11" Type="http://schemas.openxmlformats.org/officeDocument/2006/relationships/slide" Target="slides/slide5.xml"/><Relationship Id="rId33" Type="http://schemas.openxmlformats.org/officeDocument/2006/relationships/font" Target="fonts/Inter-boldItalic.fntdata"/><Relationship Id="rId10" Type="http://schemas.openxmlformats.org/officeDocument/2006/relationships/slide" Target="slides/slide4.xml"/><Relationship Id="rId32" Type="http://schemas.openxmlformats.org/officeDocument/2006/relationships/font" Target="fonts/Inter-italic.fntdata"/><Relationship Id="rId13" Type="http://schemas.openxmlformats.org/officeDocument/2006/relationships/slide" Target="slides/slide7.xml"/><Relationship Id="rId35" Type="http://schemas.openxmlformats.org/officeDocument/2006/relationships/font" Target="fonts/Poppins-bold.fntdata"/><Relationship Id="rId12" Type="http://schemas.openxmlformats.org/officeDocument/2006/relationships/slide" Target="slides/slide6.xml"/><Relationship Id="rId34" Type="http://schemas.openxmlformats.org/officeDocument/2006/relationships/font" Target="fonts/Poppins-regular.fntdata"/><Relationship Id="rId15" Type="http://schemas.openxmlformats.org/officeDocument/2006/relationships/slide" Target="slides/slide9.xml"/><Relationship Id="rId37" Type="http://schemas.openxmlformats.org/officeDocument/2006/relationships/font" Target="fonts/Poppins-boldItalic.fntdata"/><Relationship Id="rId14" Type="http://schemas.openxmlformats.org/officeDocument/2006/relationships/slide" Target="slides/slide8.xml"/><Relationship Id="rId36" Type="http://schemas.openxmlformats.org/officeDocument/2006/relationships/font" Target="fonts/Poppins-italic.fntdata"/><Relationship Id="rId17" Type="http://schemas.openxmlformats.org/officeDocument/2006/relationships/slide" Target="slides/slide11.xml"/><Relationship Id="rId39" Type="http://schemas.openxmlformats.org/officeDocument/2006/relationships/font" Target="fonts/PoppinsSemiBold-bold.fntdata"/><Relationship Id="rId16" Type="http://schemas.openxmlformats.org/officeDocument/2006/relationships/slide" Target="slides/slide10.xml"/><Relationship Id="rId38" Type="http://schemas.openxmlformats.org/officeDocument/2006/relationships/font" Target="fonts/PoppinsSemiBold-regular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3" name="Google Shape;93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1" name="Google Shape;101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8" name="Google Shape;118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0" name="Google Shape;140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8" name="Google Shape;158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7" name="Google Shape;167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5" name="Google Shape;175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0" name="Google Shape;190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2" name="Google Shape;212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0" name="Google Shape;220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9" name="Google Shape;229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6" name="Google Shape;256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65" name="Google Shape;265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73" name="Google Shape;273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95" name="Google Shape;295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19" name="Google Shape;319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36" name="Google Shape;336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43" name="Google Shape;343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2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2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4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4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5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25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6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6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26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6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8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8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8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9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9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9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0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3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3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3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1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1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3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3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3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2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3.png"/><Relationship Id="rId4" Type="http://schemas.openxmlformats.org/officeDocument/2006/relationships/image" Target="../media/image17.png"/><Relationship Id="rId5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3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1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3.png"/><Relationship Id="rId4" Type="http://schemas.openxmlformats.org/officeDocument/2006/relationships/image" Target="../media/image11.png"/><Relationship Id="rId11" Type="http://schemas.openxmlformats.org/officeDocument/2006/relationships/image" Target="../media/image5.png"/><Relationship Id="rId10" Type="http://schemas.openxmlformats.org/officeDocument/2006/relationships/image" Target="../media/image4.png"/><Relationship Id="rId12" Type="http://schemas.openxmlformats.org/officeDocument/2006/relationships/image" Target="../media/image6.png"/><Relationship Id="rId9" Type="http://schemas.openxmlformats.org/officeDocument/2006/relationships/image" Target="../media/image3.png"/><Relationship Id="rId5" Type="http://schemas.openxmlformats.org/officeDocument/2006/relationships/image" Target="../media/image10.png"/><Relationship Id="rId6" Type="http://schemas.openxmlformats.org/officeDocument/2006/relationships/image" Target="../media/image14.png"/><Relationship Id="rId7" Type="http://schemas.openxmlformats.org/officeDocument/2006/relationships/image" Target="../media/image9.png"/><Relationship Id="rId8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3.png"/><Relationship Id="rId4" Type="http://schemas.openxmlformats.org/officeDocument/2006/relationships/image" Target="../media/image19.png"/><Relationship Id="rId5" Type="http://schemas.openxmlformats.org/officeDocument/2006/relationships/image" Target="../media/image1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3.png"/><Relationship Id="rId4" Type="http://schemas.openxmlformats.org/officeDocument/2006/relationships/image" Target="../media/image2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3.png"/><Relationship Id="rId4" Type="http://schemas.openxmlformats.org/officeDocument/2006/relationships/image" Target="../media/image35.png"/><Relationship Id="rId5" Type="http://schemas.openxmlformats.org/officeDocument/2006/relationships/image" Target="../media/image1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3.png"/><Relationship Id="rId4" Type="http://schemas.openxmlformats.org/officeDocument/2006/relationships/image" Target="../media/image11.png"/><Relationship Id="rId11" Type="http://schemas.openxmlformats.org/officeDocument/2006/relationships/image" Target="../media/image32.png"/><Relationship Id="rId10" Type="http://schemas.openxmlformats.org/officeDocument/2006/relationships/image" Target="../media/image20.png"/><Relationship Id="rId12" Type="http://schemas.openxmlformats.org/officeDocument/2006/relationships/image" Target="../media/image15.png"/><Relationship Id="rId9" Type="http://schemas.openxmlformats.org/officeDocument/2006/relationships/image" Target="../media/image3.png"/><Relationship Id="rId5" Type="http://schemas.openxmlformats.org/officeDocument/2006/relationships/image" Target="../media/image10.png"/><Relationship Id="rId6" Type="http://schemas.openxmlformats.org/officeDocument/2006/relationships/image" Target="../media/image14.png"/><Relationship Id="rId7" Type="http://schemas.openxmlformats.org/officeDocument/2006/relationships/image" Target="../media/image9.png"/><Relationship Id="rId8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3.png"/><Relationship Id="rId4" Type="http://schemas.openxmlformats.org/officeDocument/2006/relationships/image" Target="../media/image3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3.png"/><Relationship Id="rId4" Type="http://schemas.openxmlformats.org/officeDocument/2006/relationships/image" Target="../media/image18.png"/><Relationship Id="rId5" Type="http://schemas.openxmlformats.org/officeDocument/2006/relationships/image" Target="../media/image1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3.png"/><Relationship Id="rId4" Type="http://schemas.openxmlformats.org/officeDocument/2006/relationships/image" Target="../media/image2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3.png"/><Relationship Id="rId4" Type="http://schemas.openxmlformats.org/officeDocument/2006/relationships/image" Target="../media/image11.png"/><Relationship Id="rId11" Type="http://schemas.openxmlformats.org/officeDocument/2006/relationships/image" Target="../media/image26.png"/><Relationship Id="rId10" Type="http://schemas.openxmlformats.org/officeDocument/2006/relationships/image" Target="../media/image16.png"/><Relationship Id="rId12" Type="http://schemas.openxmlformats.org/officeDocument/2006/relationships/image" Target="../media/image21.png"/><Relationship Id="rId9" Type="http://schemas.openxmlformats.org/officeDocument/2006/relationships/image" Target="../media/image3.png"/><Relationship Id="rId5" Type="http://schemas.openxmlformats.org/officeDocument/2006/relationships/image" Target="../media/image10.png"/><Relationship Id="rId6" Type="http://schemas.openxmlformats.org/officeDocument/2006/relationships/image" Target="../media/image14.png"/><Relationship Id="rId7" Type="http://schemas.openxmlformats.org/officeDocument/2006/relationships/image" Target="../media/image9.png"/><Relationship Id="rId8" Type="http://schemas.openxmlformats.org/officeDocument/2006/relationships/image" Target="../media/image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3.png"/><Relationship Id="rId4" Type="http://schemas.openxmlformats.org/officeDocument/2006/relationships/image" Target="../media/image34.png"/><Relationship Id="rId10" Type="http://schemas.openxmlformats.org/officeDocument/2006/relationships/image" Target="../media/image36.png"/><Relationship Id="rId9" Type="http://schemas.openxmlformats.org/officeDocument/2006/relationships/image" Target="../media/image27.png"/><Relationship Id="rId5" Type="http://schemas.openxmlformats.org/officeDocument/2006/relationships/image" Target="../media/image24.png"/><Relationship Id="rId6" Type="http://schemas.openxmlformats.org/officeDocument/2006/relationships/image" Target="../media/image23.png"/><Relationship Id="rId7" Type="http://schemas.openxmlformats.org/officeDocument/2006/relationships/image" Target="../media/image30.png"/><Relationship Id="rId8" Type="http://schemas.openxmlformats.org/officeDocument/2006/relationships/image" Target="../media/image2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3.png"/><Relationship Id="rId4" Type="http://schemas.openxmlformats.org/officeDocument/2006/relationships/image" Target="../media/image29.png"/><Relationship Id="rId5" Type="http://schemas.openxmlformats.org/officeDocument/2006/relationships/image" Target="../media/image33.png"/><Relationship Id="rId6" Type="http://schemas.openxmlformats.org/officeDocument/2006/relationships/image" Target="../media/image1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3.png"/><Relationship Id="rId4" Type="http://schemas.openxmlformats.org/officeDocument/2006/relationships/image" Target="../media/image31.png"/><Relationship Id="rId5" Type="http://schemas.openxmlformats.org/officeDocument/2006/relationships/image" Target="../media/image37.png"/><Relationship Id="rId6" Type="http://schemas.openxmlformats.org/officeDocument/2006/relationships/image" Target="../media/image3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76400" y="5030985"/>
            <a:ext cx="8839200" cy="781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6" name="Google Shape;86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67400" y="1045964"/>
            <a:ext cx="457200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"/>
          <p:cNvSpPr txBox="1"/>
          <p:nvPr/>
        </p:nvSpPr>
        <p:spPr>
          <a:xfrm>
            <a:off x="1825466" y="1941314"/>
            <a:ext cx="8541067" cy="1462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7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0" i="0" lang="en-US" sz="4800" u="none" cap="none" strike="noStrike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Real-Time </a:t>
            </a:r>
            <a:r>
              <a:rPr b="0" i="0" lang="en-US" sz="4800" u="none" cap="none" strike="noStrike">
                <a:solidFill>
                  <a:srgbClr val="38BDF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Human Activity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4800" u="none" cap="none" strike="noStrike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 Recognition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"/>
          <p:cNvSpPr txBox="1"/>
          <p:nvPr/>
        </p:nvSpPr>
        <p:spPr>
          <a:xfrm>
            <a:off x="2952750" y="3823394"/>
            <a:ext cx="6286500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CRISP-DM Final Report (HW4) — Evaluation &amp; Deployment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Based on Smartphone Sensor Data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"/>
          <p:cNvSpPr txBox="1"/>
          <p:nvPr/>
        </p:nvSpPr>
        <p:spPr>
          <a:xfrm>
            <a:off x="1676400" y="5326260"/>
            <a:ext cx="88392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Authors: Almog Tal · Daniel Korkevados · Lior Sulshtein · Ilay Damari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1"/>
          <p:cNvSpPr txBox="1"/>
          <p:nvPr/>
        </p:nvSpPr>
        <p:spPr>
          <a:xfrm>
            <a:off x="1676400" y="5621535"/>
            <a:ext cx="88392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Introduction to Data Science in Industry · Ben-Gurion University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5" name="Google Shape;95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2"/>
          <p:cNvSpPr/>
          <p:nvPr/>
        </p:nvSpPr>
        <p:spPr>
          <a:xfrm>
            <a:off x="5524500" y="2562225"/>
            <a:ext cx="1143000" cy="571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2"/>
          <p:cNvSpPr txBox="1"/>
          <p:nvPr/>
        </p:nvSpPr>
        <p:spPr>
          <a:xfrm>
            <a:off x="2620565" y="3000375"/>
            <a:ext cx="6950868" cy="809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b="0" i="0" lang="en-US" sz="4200" u="none" cap="none" strike="noStrike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Part 1: Motivation &amp; Data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2"/>
          <p:cNvSpPr txBox="1"/>
          <p:nvPr/>
        </p:nvSpPr>
        <p:spPr>
          <a:xfrm>
            <a:off x="4686300" y="4000500"/>
            <a:ext cx="281940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A3E635"/>
                </a:solidFill>
                <a:latin typeface="Inter Medium"/>
                <a:ea typeface="Inter Medium"/>
                <a:cs typeface="Inter Medium"/>
                <a:sym typeface="Inter Medium"/>
              </a:rPr>
              <a:t>Presented by Almog Tal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3" name="Google Shape;103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4" name="Google Shape;104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504950"/>
            <a:ext cx="5286375" cy="457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3"/>
          <p:cNvSpPr txBox="1"/>
          <p:nvPr/>
        </p:nvSpPr>
        <p:spPr>
          <a:xfrm>
            <a:off x="914400" y="1504950"/>
            <a:ext cx="4679156" cy="942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Unobtrusive Monitoring:</a:t>
            </a:r>
            <a:r>
              <a:rPr b="0" i="0" lang="en-US" sz="16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Track human activity without relying on cameras or wearable devices.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3"/>
          <p:cNvSpPr txBox="1"/>
          <p:nvPr/>
        </p:nvSpPr>
        <p:spPr>
          <a:xfrm>
            <a:off x="914400" y="2676525"/>
            <a:ext cx="4679156" cy="942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Zero Extra Hardware:</a:t>
            </a:r>
            <a:r>
              <a:rPr b="0" i="0" lang="en-US" sz="16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Utilizes the accelerometer and gyroscope already present in smartphones.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3"/>
          <p:cNvSpPr txBox="1"/>
          <p:nvPr/>
        </p:nvSpPr>
        <p:spPr>
          <a:xfrm>
            <a:off x="914400" y="3848100"/>
            <a:ext cx="4679156" cy="942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The Generalization Challenge:</a:t>
            </a:r>
            <a:r>
              <a:rPr b="0" i="0" lang="en-US" sz="16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The model must accurately label activity in near real-time on unseen individuals.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3"/>
          <p:cNvSpPr txBox="1"/>
          <p:nvPr/>
        </p:nvSpPr>
        <p:spPr>
          <a:xfrm>
            <a:off x="914400" y="5019675"/>
            <a:ext cx="4679156" cy="942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Business Application:</a:t>
            </a:r>
            <a:r>
              <a:rPr b="0" i="0" lang="en-US" sz="16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Enables passive, highly private activity monitoring for context-aware health applications.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109" name="Google Shape;109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43650" y="1514475"/>
            <a:ext cx="5267325" cy="455295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3"/>
          <p:cNvSpPr txBox="1"/>
          <p:nvPr/>
        </p:nvSpPr>
        <p:spPr>
          <a:xfrm>
            <a:off x="762000" y="571500"/>
            <a:ext cx="1140142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The Objective &amp; Business Value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3"/>
          <p:cNvSpPr/>
          <p:nvPr/>
        </p:nvSpPr>
        <p:spPr>
          <a:xfrm>
            <a:off x="571500" y="571500"/>
            <a:ext cx="57150" cy="4572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12" name="Google Shape;112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1543050"/>
            <a:ext cx="10477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3" name="Google Shape;113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2714625"/>
            <a:ext cx="10477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4" name="Google Shape;114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886200"/>
            <a:ext cx="10477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5" name="Google Shape;115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5057775"/>
            <a:ext cx="104775" cy="18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0" name="Google Shape;120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1" name="Google Shape;121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185987"/>
            <a:ext cx="3492549" cy="33240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2" name="Google Shape;122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2185987"/>
            <a:ext cx="3492549" cy="33240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3" name="Google Shape;123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2185987"/>
            <a:ext cx="3492549" cy="33240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4" name="Google Shape;124;p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85825" y="2500312"/>
            <a:ext cx="609600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4"/>
          <p:cNvSpPr txBox="1"/>
          <p:nvPr/>
        </p:nvSpPr>
        <p:spPr>
          <a:xfrm>
            <a:off x="885825" y="3338512"/>
            <a:ext cx="2580322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Transformer Efficacy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4"/>
          <p:cNvSpPr txBox="1"/>
          <p:nvPr/>
        </p:nvSpPr>
        <p:spPr>
          <a:xfrm>
            <a:off x="885825" y="3824287"/>
            <a:ext cx="2863899" cy="13714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Can a Deep Transformer architecture accurately label six distinct activities from just 2.56 seconds of raw, 9-channel sensor signals?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127" name="Google Shape;127;p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64124" y="2500312"/>
            <a:ext cx="609600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4"/>
          <p:cNvSpPr txBox="1"/>
          <p:nvPr/>
        </p:nvSpPr>
        <p:spPr>
          <a:xfrm>
            <a:off x="4664124" y="3338512"/>
            <a:ext cx="2270283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Frequency Impact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4"/>
          <p:cNvSpPr txBox="1"/>
          <p:nvPr/>
        </p:nvSpPr>
        <p:spPr>
          <a:xfrm>
            <a:off x="4664124" y="3824287"/>
            <a:ext cx="2863899" cy="13714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Does incorporating Fast Fourier Transform (FFT) frequency information significantly improve predictions over using just the raw time signal?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130" name="Google Shape;130;p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442424" y="2500312"/>
            <a:ext cx="609600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4"/>
          <p:cNvSpPr txBox="1"/>
          <p:nvPr/>
        </p:nvSpPr>
        <p:spPr>
          <a:xfrm>
            <a:off x="8442424" y="3338512"/>
            <a:ext cx="2150268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Sensor Relevance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4"/>
          <p:cNvSpPr txBox="1"/>
          <p:nvPr/>
        </p:nvSpPr>
        <p:spPr>
          <a:xfrm>
            <a:off x="8442424" y="3824287"/>
            <a:ext cx="2863899" cy="13714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Which internal smartphone sensors actually matter for accurate classification? Are both accelerometer and gyroscope required?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133" name="Google Shape;133;p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038225" y="2652712"/>
            <a:ext cx="304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4" name="Google Shape;134;p4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4778424" y="2652712"/>
            <a:ext cx="3810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5" name="Google Shape;135;p4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8632924" y="2652712"/>
            <a:ext cx="2286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4"/>
          <p:cNvSpPr txBox="1"/>
          <p:nvPr/>
        </p:nvSpPr>
        <p:spPr>
          <a:xfrm>
            <a:off x="762000" y="571500"/>
            <a:ext cx="1140142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Core Research Questions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4"/>
          <p:cNvSpPr/>
          <p:nvPr/>
        </p:nvSpPr>
        <p:spPr>
          <a:xfrm>
            <a:off x="571500" y="571500"/>
            <a:ext cx="57150" cy="4572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2" name="Google Shape;142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3" name="Google Shape;143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519237"/>
            <a:ext cx="5286375" cy="4657725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5"/>
          <p:cNvSpPr txBox="1"/>
          <p:nvPr/>
        </p:nvSpPr>
        <p:spPr>
          <a:xfrm>
            <a:off x="2028825" y="3252775"/>
            <a:ext cx="26856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0" lang="en-US" sz="6000" u="none" cap="none" strike="noStrike">
                <a:solidFill>
                  <a:srgbClr val="A3E635"/>
                </a:solidFill>
                <a:latin typeface="Poppins"/>
                <a:ea typeface="Poppins"/>
                <a:cs typeface="Poppins"/>
                <a:sym typeface="Poppins"/>
              </a:rPr>
              <a:t>10,299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5"/>
          <p:cNvSpPr txBox="1"/>
          <p:nvPr/>
        </p:nvSpPr>
        <p:spPr>
          <a:xfrm>
            <a:off x="1633537" y="4167187"/>
            <a:ext cx="316230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CBD5E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TOTAL SENSOR WINDOWS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5"/>
          <p:cNvSpPr txBox="1"/>
          <p:nvPr/>
        </p:nvSpPr>
        <p:spPr>
          <a:xfrm>
            <a:off x="6677025" y="1804987"/>
            <a:ext cx="4679156" cy="942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Data Collection:</a:t>
            </a:r>
            <a:r>
              <a:rPr b="0" i="0" lang="en-US" sz="16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Gathered from 30 volunteers using waist-mounted smartphones recording at 50 Hz.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5"/>
          <p:cNvSpPr txBox="1"/>
          <p:nvPr/>
        </p:nvSpPr>
        <p:spPr>
          <a:xfrm>
            <a:off x="6677025" y="2976562"/>
            <a:ext cx="4679156" cy="942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Signal Characteristics:</a:t>
            </a:r>
            <a:r>
              <a:rPr b="0" i="0" lang="en-US" sz="16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9 inertial channels split into 128-sample windows (representing 2.56 seconds each).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5"/>
          <p:cNvSpPr txBox="1"/>
          <p:nvPr/>
        </p:nvSpPr>
        <p:spPr>
          <a:xfrm>
            <a:off x="6677025" y="4148137"/>
            <a:ext cx="4679156" cy="942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Strict Split Strategy:</a:t>
            </a:r>
            <a:r>
              <a:rPr b="0" i="0" lang="en-US" sz="16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Subject-disjoint validation (21 Train / 9 Test). Test subjects are completely unseen.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5"/>
          <p:cNvSpPr txBox="1"/>
          <p:nvPr/>
        </p:nvSpPr>
        <p:spPr>
          <a:xfrm>
            <a:off x="6677025" y="5319712"/>
            <a:ext cx="4679156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Categories:</a:t>
            </a:r>
            <a:r>
              <a:rPr b="0" i="0" lang="en-US" sz="16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6 Activities (Walking, Walking Up, Walking Down, Sitting, Standing, Laying).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5"/>
          <p:cNvSpPr txBox="1"/>
          <p:nvPr/>
        </p:nvSpPr>
        <p:spPr>
          <a:xfrm>
            <a:off x="762000" y="571500"/>
            <a:ext cx="1140142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The UCI HAR Dataset Overview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5"/>
          <p:cNvSpPr/>
          <p:nvPr/>
        </p:nvSpPr>
        <p:spPr>
          <a:xfrm>
            <a:off x="571500" y="571500"/>
            <a:ext cx="57150" cy="4572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52" name="Google Shape;152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1843087"/>
            <a:ext cx="10477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3" name="Google Shape;153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3014662"/>
            <a:ext cx="10477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4" name="Google Shape;154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4186237"/>
            <a:ext cx="10477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5" name="Google Shape;155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5357812"/>
            <a:ext cx="104775" cy="18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0" name="Google Shape;160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1" name="Google Shape;161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409700"/>
            <a:ext cx="11049000" cy="4876800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6"/>
          <p:cNvSpPr txBox="1"/>
          <p:nvPr/>
        </p:nvSpPr>
        <p:spPr>
          <a:xfrm>
            <a:off x="571500" y="5986462"/>
            <a:ext cx="110490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Walking shows a sharp gait peak, while static postures are near-DC. This cleanly separates motion from stillness.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6"/>
          <p:cNvSpPr txBox="1"/>
          <p:nvPr/>
        </p:nvSpPr>
        <p:spPr>
          <a:xfrm>
            <a:off x="762000" y="571500"/>
            <a:ext cx="1140142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EDA: Frequency Domain Separates Activities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6"/>
          <p:cNvSpPr/>
          <p:nvPr/>
        </p:nvSpPr>
        <p:spPr>
          <a:xfrm>
            <a:off x="571500" y="571500"/>
            <a:ext cx="57150" cy="4572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9" name="Google Shape;169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7"/>
          <p:cNvSpPr/>
          <p:nvPr/>
        </p:nvSpPr>
        <p:spPr>
          <a:xfrm>
            <a:off x="5524500" y="2562225"/>
            <a:ext cx="1143000" cy="571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7"/>
          <p:cNvSpPr txBox="1"/>
          <p:nvPr/>
        </p:nvSpPr>
        <p:spPr>
          <a:xfrm>
            <a:off x="3245643" y="3000375"/>
            <a:ext cx="5700712" cy="809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b="0" i="0" lang="en-US" sz="4200" u="none" cap="none" strike="noStrike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Part 2: Methodology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7"/>
          <p:cNvSpPr txBox="1"/>
          <p:nvPr/>
        </p:nvSpPr>
        <p:spPr>
          <a:xfrm>
            <a:off x="4162425" y="4000500"/>
            <a:ext cx="386715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A3E635"/>
                </a:solidFill>
                <a:latin typeface="Inter Medium"/>
                <a:ea typeface="Inter Medium"/>
                <a:cs typeface="Inter Medium"/>
                <a:sym typeface="Inter Medium"/>
              </a:rPr>
              <a:t>Presented by Daniel Korkevados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7" name="Google Shape;177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8"/>
          <p:cNvSpPr txBox="1"/>
          <p:nvPr/>
        </p:nvSpPr>
        <p:spPr>
          <a:xfrm>
            <a:off x="571500" y="571500"/>
            <a:ext cx="530066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Modeling Architecture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8"/>
          <p:cNvSpPr txBox="1"/>
          <p:nvPr/>
        </p:nvSpPr>
        <p:spPr>
          <a:xfrm>
            <a:off x="914400" y="1504950"/>
            <a:ext cx="4452937" cy="942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Continuous Stream:</a:t>
            </a:r>
            <a:r>
              <a:rPr b="0" i="0" lang="en-US" sz="16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50Hz sensor stream is split into 128x9 independent windows (2.56s each).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8"/>
          <p:cNvSpPr txBox="1"/>
          <p:nvPr/>
        </p:nvSpPr>
        <p:spPr>
          <a:xfrm>
            <a:off x="914400" y="2676525"/>
            <a:ext cx="4452937" cy="942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Deep Learning Core:</a:t>
            </a:r>
            <a:r>
              <a:rPr b="0" i="0" lang="en-US" sz="16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Raw tokens are fed into a Transformer to bypass manual feature engineering entirely.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8"/>
          <p:cNvSpPr txBox="1"/>
          <p:nvPr/>
        </p:nvSpPr>
        <p:spPr>
          <a:xfrm>
            <a:off x="914400" y="3848100"/>
            <a:ext cx="4452937" cy="942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Dual-Branch Innovation:</a:t>
            </a:r>
            <a:r>
              <a:rPr b="0" i="0" lang="en-US" sz="16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Our flagship model attends over time AND the FFT frequency domain, then fuses them.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8"/>
          <p:cNvSpPr txBox="1"/>
          <p:nvPr/>
        </p:nvSpPr>
        <p:spPr>
          <a:xfrm>
            <a:off x="914400" y="5019675"/>
            <a:ext cx="4452937" cy="942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Classical Baseline:</a:t>
            </a:r>
            <a:r>
              <a:rPr b="0" i="0" lang="en-US" sz="16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For comparison, 561 hand-engineered features were fed into Logistic Regression.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183" name="Google Shape;183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4" name="Google Shape;184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1543050"/>
            <a:ext cx="10477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5" name="Google Shape;185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2714625"/>
            <a:ext cx="10477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6" name="Google Shape;186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886200"/>
            <a:ext cx="10477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7" name="Google Shape;187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5057775"/>
            <a:ext cx="104775" cy="18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2" name="Google Shape;192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3" name="Google Shape;193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185987"/>
            <a:ext cx="3492549" cy="33240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4" name="Google Shape;194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2185987"/>
            <a:ext cx="3492549" cy="33240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5" name="Google Shape;195;p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2185987"/>
            <a:ext cx="3492549" cy="33240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6" name="Google Shape;196;p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85825" y="2500312"/>
            <a:ext cx="609600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9"/>
          <p:cNvSpPr txBox="1"/>
          <p:nvPr/>
        </p:nvSpPr>
        <p:spPr>
          <a:xfrm>
            <a:off x="885825" y="3338512"/>
            <a:ext cx="1950243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Subject-Disjoint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9"/>
          <p:cNvSpPr txBox="1"/>
          <p:nvPr/>
        </p:nvSpPr>
        <p:spPr>
          <a:xfrm>
            <a:off x="885825" y="3824287"/>
            <a:ext cx="2863899" cy="13714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Models are tuned on held-out subjects. No subject leaks between train and validation splits, guaranteeing true real-world generalization.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199" name="Google Shape;199;p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64124" y="2500312"/>
            <a:ext cx="609600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9"/>
          <p:cNvSpPr txBox="1"/>
          <p:nvPr/>
        </p:nvSpPr>
        <p:spPr>
          <a:xfrm>
            <a:off x="4664124" y="3338512"/>
            <a:ext cx="1970246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Macro-F1 Metric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9"/>
          <p:cNvSpPr txBox="1"/>
          <p:nvPr/>
        </p:nvSpPr>
        <p:spPr>
          <a:xfrm>
            <a:off x="4664124" y="3824287"/>
            <a:ext cx="2863899" cy="13714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Macro-F1 strictly weights all six classes equally. This prevents the model from ignoring smaller classes or optimizing for pure volume.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202" name="Google Shape;202;p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442424" y="2500312"/>
            <a:ext cx="609600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9"/>
          <p:cNvSpPr txBox="1"/>
          <p:nvPr/>
        </p:nvSpPr>
        <p:spPr>
          <a:xfrm>
            <a:off x="8442424" y="3338512"/>
            <a:ext cx="1710213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True Test Split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9"/>
          <p:cNvSpPr txBox="1"/>
          <p:nvPr/>
        </p:nvSpPr>
        <p:spPr>
          <a:xfrm>
            <a:off x="8442424" y="3824287"/>
            <a:ext cx="2863899" cy="109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The official test split (containing 9 completely unseen subjects) is withheld and scored exactly a single time for final evaluation.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205" name="Google Shape;205;p9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000125" y="2652712"/>
            <a:ext cx="3810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6" name="Google Shape;206;p9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4778424" y="2652712"/>
            <a:ext cx="3810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7" name="Google Shape;207;p9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8613874" y="2652712"/>
            <a:ext cx="2667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9"/>
          <p:cNvSpPr txBox="1"/>
          <p:nvPr/>
        </p:nvSpPr>
        <p:spPr>
          <a:xfrm>
            <a:off x="762000" y="571500"/>
            <a:ext cx="1140142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Rigorous Evaluation Strategy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9"/>
          <p:cNvSpPr/>
          <p:nvPr/>
        </p:nvSpPr>
        <p:spPr>
          <a:xfrm>
            <a:off x="571500" y="571500"/>
            <a:ext cx="57150" cy="4572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4" name="Google Shape;21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10"/>
          <p:cNvSpPr/>
          <p:nvPr/>
        </p:nvSpPr>
        <p:spPr>
          <a:xfrm>
            <a:off x="5524500" y="2562225"/>
            <a:ext cx="1143000" cy="571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0"/>
          <p:cNvSpPr txBox="1"/>
          <p:nvPr/>
        </p:nvSpPr>
        <p:spPr>
          <a:xfrm>
            <a:off x="2530554" y="3000375"/>
            <a:ext cx="7130891" cy="809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b="0" i="0" lang="en-US" sz="4200" u="none" cap="none" strike="noStrike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Part 3: Results &amp; Analysis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10"/>
          <p:cNvSpPr txBox="1"/>
          <p:nvPr/>
        </p:nvSpPr>
        <p:spPr>
          <a:xfrm>
            <a:off x="4457700" y="4000500"/>
            <a:ext cx="327660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A3E635"/>
                </a:solidFill>
                <a:latin typeface="Inter Medium"/>
                <a:ea typeface="Inter Medium"/>
                <a:cs typeface="Inter Medium"/>
                <a:sym typeface="Inter Medium"/>
              </a:rPr>
              <a:t>Presented by Lior Sulshtein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2" name="Google Shape;222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3" name="Google Shape;223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409700"/>
            <a:ext cx="11049000" cy="4876800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11"/>
          <p:cNvSpPr txBox="1"/>
          <p:nvPr/>
        </p:nvSpPr>
        <p:spPr>
          <a:xfrm>
            <a:off x="571500" y="5591175"/>
            <a:ext cx="11049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The Fourier+Transformer is the definitive best raw-signal model. Note: Our deployed checkpoint (with augmentation) successfully reached </a:t>
            </a:r>
            <a:r>
              <a:rPr b="1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94.8% accuracy</a:t>
            </a: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on unseen subjects.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11"/>
          <p:cNvSpPr txBox="1"/>
          <p:nvPr/>
        </p:nvSpPr>
        <p:spPr>
          <a:xfrm>
            <a:off x="762000" y="571500"/>
            <a:ext cx="1140142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Model Performance (Macro-F1)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11"/>
          <p:cNvSpPr/>
          <p:nvPr/>
        </p:nvSpPr>
        <p:spPr>
          <a:xfrm>
            <a:off x="571500" y="571500"/>
            <a:ext cx="57150" cy="4572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1" name="Google Shape;231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2" name="Google Shape;232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400175"/>
            <a:ext cx="11049000" cy="288607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33" name="Google Shape;233;p12"/>
          <p:cNvGraphicFramePr/>
          <p:nvPr/>
        </p:nvGraphicFramePr>
        <p:xfrm>
          <a:off x="581025" y="14097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{25945B93-F15E-4936-9474-FD1D49B4341A}</a:tableStyleId>
              </a:tblPr>
              <a:tblGrid>
                <a:gridCol w="3355925"/>
                <a:gridCol w="2801850"/>
                <a:gridCol w="2289575"/>
                <a:gridCol w="2582625"/>
              </a:tblGrid>
              <a:tr h="716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50"/>
                        <a:buFont typeface="Arial"/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38BDF8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True / Predicted Activity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50"/>
                        <a:buFont typeface="Arial"/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38BDF8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Walking (Dynamic)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50"/>
                        <a:buFont typeface="Arial"/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38BDF8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Sitting (Static)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50"/>
                        <a:buFont typeface="Arial"/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38BDF8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Standing (Static)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</a:tr>
              <a:tr h="716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Walking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A3E63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471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16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Sitting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A3E63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432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F8717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54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16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Standing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F8717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25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A3E63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507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34" name="Google Shape;234;p12"/>
          <p:cNvSpPr txBox="1"/>
          <p:nvPr/>
        </p:nvSpPr>
        <p:spPr>
          <a:xfrm>
            <a:off x="1104900" y="4667250"/>
            <a:ext cx="1015365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There is absolute </a:t>
            </a:r>
            <a:r>
              <a:rPr b="1" i="0" lang="en-US" sz="16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zero confusion</a:t>
            </a:r>
            <a:r>
              <a:rPr b="0" i="0" lang="en-US" sz="16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between the dynamic group and the static group.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12"/>
          <p:cNvSpPr txBox="1"/>
          <p:nvPr/>
        </p:nvSpPr>
        <p:spPr>
          <a:xfrm>
            <a:off x="1104900" y="5210175"/>
            <a:ext cx="1015365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Laying (not pictured) is classified flawlessly (537/537).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12"/>
          <p:cNvSpPr txBox="1"/>
          <p:nvPr/>
        </p:nvSpPr>
        <p:spPr>
          <a:xfrm>
            <a:off x="1104900" y="5753100"/>
            <a:ext cx="1015365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The only real errors are isolated to the near-DC </a:t>
            </a:r>
            <a:r>
              <a:rPr b="1" i="0" lang="en-US" sz="16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Sitting ↔ Standing</a:t>
            </a:r>
            <a:r>
              <a:rPr b="0" i="0" lang="en-US" sz="16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pair.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237" name="Google Shape;237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4705350"/>
            <a:ext cx="104775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12"/>
          <p:cNvSpPr/>
          <p:nvPr/>
        </p:nvSpPr>
        <p:spPr>
          <a:xfrm>
            <a:off x="581025" y="2171700"/>
            <a:ext cx="3355925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2"/>
          <p:cNvSpPr/>
          <p:nvPr/>
        </p:nvSpPr>
        <p:spPr>
          <a:xfrm>
            <a:off x="3936950" y="2171700"/>
            <a:ext cx="2801838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2"/>
          <p:cNvSpPr/>
          <p:nvPr/>
        </p:nvSpPr>
        <p:spPr>
          <a:xfrm>
            <a:off x="6738788" y="2171700"/>
            <a:ext cx="2289571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2"/>
          <p:cNvSpPr/>
          <p:nvPr/>
        </p:nvSpPr>
        <p:spPr>
          <a:xfrm>
            <a:off x="9028360" y="2171700"/>
            <a:ext cx="2582614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42" name="Google Shape;242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5248275"/>
            <a:ext cx="10477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3" name="Google Shape;243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5791200"/>
            <a:ext cx="104775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12"/>
          <p:cNvSpPr/>
          <p:nvPr/>
        </p:nvSpPr>
        <p:spPr>
          <a:xfrm>
            <a:off x="581025" y="2881312"/>
            <a:ext cx="3355925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2"/>
          <p:cNvSpPr/>
          <p:nvPr/>
        </p:nvSpPr>
        <p:spPr>
          <a:xfrm>
            <a:off x="3936950" y="2881312"/>
            <a:ext cx="2801838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2"/>
          <p:cNvSpPr/>
          <p:nvPr/>
        </p:nvSpPr>
        <p:spPr>
          <a:xfrm>
            <a:off x="6738788" y="2881312"/>
            <a:ext cx="2289571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2"/>
          <p:cNvSpPr/>
          <p:nvPr/>
        </p:nvSpPr>
        <p:spPr>
          <a:xfrm>
            <a:off x="9028360" y="2881312"/>
            <a:ext cx="2582614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2"/>
          <p:cNvSpPr/>
          <p:nvPr/>
        </p:nvSpPr>
        <p:spPr>
          <a:xfrm>
            <a:off x="581025" y="3576637"/>
            <a:ext cx="3355925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2"/>
          <p:cNvSpPr/>
          <p:nvPr/>
        </p:nvSpPr>
        <p:spPr>
          <a:xfrm>
            <a:off x="3936950" y="3576637"/>
            <a:ext cx="2801838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2"/>
          <p:cNvSpPr/>
          <p:nvPr/>
        </p:nvSpPr>
        <p:spPr>
          <a:xfrm>
            <a:off x="6738788" y="3576637"/>
            <a:ext cx="2289571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2"/>
          <p:cNvSpPr/>
          <p:nvPr/>
        </p:nvSpPr>
        <p:spPr>
          <a:xfrm>
            <a:off x="9028360" y="3576637"/>
            <a:ext cx="2582614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2"/>
          <p:cNvSpPr txBox="1"/>
          <p:nvPr/>
        </p:nvSpPr>
        <p:spPr>
          <a:xfrm>
            <a:off x="762000" y="561975"/>
            <a:ext cx="1140142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Confusion Matrix Highlights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12"/>
          <p:cNvSpPr/>
          <p:nvPr/>
        </p:nvSpPr>
        <p:spPr>
          <a:xfrm>
            <a:off x="571500" y="561975"/>
            <a:ext cx="57150" cy="4572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58" name="Google Shape;258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9" name="Google Shape;259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409700"/>
            <a:ext cx="11049000" cy="4876800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13"/>
          <p:cNvSpPr txBox="1"/>
          <p:nvPr/>
        </p:nvSpPr>
        <p:spPr>
          <a:xfrm>
            <a:off x="571500" y="5591175"/>
            <a:ext cx="11049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Acceleration data carries the primary signal. Gyroscope alone collapses to near-chance (0.48 F1), but all 9 channels combined yield the highest overall performance.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13"/>
          <p:cNvSpPr txBox="1"/>
          <p:nvPr/>
        </p:nvSpPr>
        <p:spPr>
          <a:xfrm>
            <a:off x="762000" y="571500"/>
            <a:ext cx="1140142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Sensor Ablation: Which channels matter?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13"/>
          <p:cNvSpPr/>
          <p:nvPr/>
        </p:nvSpPr>
        <p:spPr>
          <a:xfrm>
            <a:off x="571500" y="571500"/>
            <a:ext cx="57150" cy="4572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7" name="Google Shape;267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14"/>
          <p:cNvSpPr/>
          <p:nvPr/>
        </p:nvSpPr>
        <p:spPr>
          <a:xfrm>
            <a:off x="5524500" y="2562225"/>
            <a:ext cx="1143000" cy="571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4"/>
          <p:cNvSpPr txBox="1"/>
          <p:nvPr/>
        </p:nvSpPr>
        <p:spPr>
          <a:xfrm>
            <a:off x="1385411" y="3000375"/>
            <a:ext cx="9421177" cy="809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b="0" i="0" lang="en-US" sz="4200" u="none" cap="none" strike="noStrike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Part 4: Deployment &amp; Conclusion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14"/>
          <p:cNvSpPr txBox="1"/>
          <p:nvPr/>
        </p:nvSpPr>
        <p:spPr>
          <a:xfrm>
            <a:off x="4610100" y="4000500"/>
            <a:ext cx="297180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A3E635"/>
                </a:solidFill>
                <a:latin typeface="Inter Medium"/>
                <a:ea typeface="Inter Medium"/>
                <a:cs typeface="Inter Medium"/>
                <a:sym typeface="Inter Medium"/>
              </a:rPr>
              <a:t>Presented by Ilay Damari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75" name="Google Shape;275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6" name="Google Shape;276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185987"/>
            <a:ext cx="3492549" cy="33240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7" name="Google Shape;277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2185987"/>
            <a:ext cx="3492549" cy="33240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8" name="Google Shape;278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2185987"/>
            <a:ext cx="3492549" cy="33240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9" name="Google Shape;279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85825" y="2500312"/>
            <a:ext cx="609600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15"/>
          <p:cNvSpPr txBox="1"/>
          <p:nvPr/>
        </p:nvSpPr>
        <p:spPr>
          <a:xfrm>
            <a:off x="885825" y="3338512"/>
            <a:ext cx="2740342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Self-Contained Image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15"/>
          <p:cNvSpPr txBox="1"/>
          <p:nvPr/>
        </p:nvSpPr>
        <p:spPr>
          <a:xfrm>
            <a:off x="885825" y="3824287"/>
            <a:ext cx="2863899" cy="13714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Bundles the Flask API, inference logic, preprocessing, and model checkpoint inside a lightweight python:3.11-slim container with CPU-only Torch.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282" name="Google Shape;282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64124" y="2500312"/>
            <a:ext cx="609600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p15"/>
          <p:cNvSpPr txBox="1"/>
          <p:nvPr/>
        </p:nvSpPr>
        <p:spPr>
          <a:xfrm>
            <a:off x="4664124" y="3338512"/>
            <a:ext cx="1980247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Cloud Execution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15"/>
          <p:cNvSpPr txBox="1"/>
          <p:nvPr/>
        </p:nvSpPr>
        <p:spPr>
          <a:xfrm>
            <a:off x="4664124" y="3824287"/>
            <a:ext cx="2863899" cy="109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Pushed securely to Docker Hub, then automatically pulled and executed on a highly scalable RunPod cloud instance anywhere.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285" name="Google Shape;285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442424" y="2500312"/>
            <a:ext cx="609600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286;p15"/>
          <p:cNvSpPr txBox="1"/>
          <p:nvPr/>
        </p:nvSpPr>
        <p:spPr>
          <a:xfrm>
            <a:off x="8442424" y="3338512"/>
            <a:ext cx="2310288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Live HTTP Interface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15"/>
          <p:cNvSpPr txBox="1"/>
          <p:nvPr/>
        </p:nvSpPr>
        <p:spPr>
          <a:xfrm>
            <a:off x="8442424" y="3824287"/>
            <a:ext cx="2863899" cy="13714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Exposes HTTP on port 5050 serving a live interactive dashboard and a dedicated /data endpoint for continuous high-speed data ingestion.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288" name="Google Shape;288;p1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038225" y="2652712"/>
            <a:ext cx="304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9" name="Google Shape;289;p15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4778424" y="2652712"/>
            <a:ext cx="3810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0" name="Google Shape;290;p15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8556724" y="2652712"/>
            <a:ext cx="3810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291" name="Google Shape;291;p15"/>
          <p:cNvSpPr txBox="1"/>
          <p:nvPr/>
        </p:nvSpPr>
        <p:spPr>
          <a:xfrm>
            <a:off x="762000" y="571500"/>
            <a:ext cx="1140142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Docker Deployment Strategy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p15"/>
          <p:cNvSpPr/>
          <p:nvPr/>
        </p:nvSpPr>
        <p:spPr>
          <a:xfrm>
            <a:off x="571500" y="571500"/>
            <a:ext cx="57150" cy="4572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97" name="Google Shape;297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8" name="Google Shape;298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13445" y="179070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9" name="Google Shape;299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2533650"/>
            <a:ext cx="2541240" cy="1524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0" name="Google Shape;300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449365" y="179070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1" name="Google Shape;301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407419" y="2533650"/>
            <a:ext cx="2541240" cy="1524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2" name="Google Shape;302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285285" y="179070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3" name="Google Shape;303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243339" y="2533650"/>
            <a:ext cx="2541240" cy="1524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4" name="Google Shape;304;p1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0121205" y="179070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5" name="Google Shape;305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079259" y="2533650"/>
            <a:ext cx="2541240" cy="1524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6" name="Google Shape;306;p16"/>
          <p:cNvSpPr/>
          <p:nvPr/>
        </p:nvSpPr>
        <p:spPr>
          <a:xfrm>
            <a:off x="571500" y="2362200"/>
            <a:ext cx="11049000" cy="381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6"/>
          <p:cNvSpPr txBox="1"/>
          <p:nvPr/>
        </p:nvSpPr>
        <p:spPr>
          <a:xfrm>
            <a:off x="758000" y="2752725"/>
            <a:ext cx="216823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38BDF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Phone Stream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" name="Google Shape;308;p16"/>
          <p:cNvSpPr txBox="1"/>
          <p:nvPr/>
        </p:nvSpPr>
        <p:spPr>
          <a:xfrm>
            <a:off x="809625" y="3152775"/>
            <a:ext cx="206499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Smartphone HTTP-POSTs raw accel &amp; gyro data at ~50 Hz to the server.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p16"/>
          <p:cNvSpPr txBox="1"/>
          <p:nvPr/>
        </p:nvSpPr>
        <p:spPr>
          <a:xfrm>
            <a:off x="3593920" y="2752725"/>
            <a:ext cx="216823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38BDF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Windowing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p16"/>
          <p:cNvSpPr txBox="1"/>
          <p:nvPr/>
        </p:nvSpPr>
        <p:spPr>
          <a:xfrm>
            <a:off x="3645544" y="3152775"/>
            <a:ext cx="206499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Server captures and buffers the last 2.56s into a 128 × 9 matrix.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p16"/>
          <p:cNvSpPr txBox="1"/>
          <p:nvPr/>
        </p:nvSpPr>
        <p:spPr>
          <a:xfrm>
            <a:off x="6429840" y="2752725"/>
            <a:ext cx="216823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38BDF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Preprocessing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p16"/>
          <p:cNvSpPr txBox="1"/>
          <p:nvPr/>
        </p:nvSpPr>
        <p:spPr>
          <a:xfrm>
            <a:off x="6481464" y="3152775"/>
            <a:ext cx="206499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The window is instantly z-scored utilizing saved training statistics.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p16"/>
          <p:cNvSpPr txBox="1"/>
          <p:nvPr/>
        </p:nvSpPr>
        <p:spPr>
          <a:xfrm>
            <a:off x="9265760" y="2752725"/>
            <a:ext cx="216823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38BDF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Prediction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16"/>
          <p:cNvSpPr txBox="1"/>
          <p:nvPr/>
        </p:nvSpPr>
        <p:spPr>
          <a:xfrm>
            <a:off x="9317384" y="3152775"/>
            <a:ext cx="206499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Fourier+Transformer outputs classes; EMA smooths it for the dashboard.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16"/>
          <p:cNvSpPr txBox="1"/>
          <p:nvPr/>
        </p:nvSpPr>
        <p:spPr>
          <a:xfrm>
            <a:off x="762000" y="571500"/>
            <a:ext cx="1140142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Real-Time Inference Pipeline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p16"/>
          <p:cNvSpPr/>
          <p:nvPr/>
        </p:nvSpPr>
        <p:spPr>
          <a:xfrm>
            <a:off x="571500" y="571500"/>
            <a:ext cx="57150" cy="4572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21" name="Google Shape;321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2" name="Google Shape;322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347787"/>
            <a:ext cx="5286375" cy="4572000"/>
          </a:xfrm>
          <a:prstGeom prst="rect">
            <a:avLst/>
          </a:prstGeom>
          <a:noFill/>
          <a:ln>
            <a:noFill/>
          </a:ln>
        </p:spPr>
      </p:pic>
      <p:sp>
        <p:nvSpPr>
          <p:cNvPr id="323" name="Google Shape;323;p17"/>
          <p:cNvSpPr txBox="1"/>
          <p:nvPr/>
        </p:nvSpPr>
        <p:spPr>
          <a:xfrm>
            <a:off x="914400" y="1347787"/>
            <a:ext cx="4679156" cy="12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Transformers Work:</a:t>
            </a:r>
            <a:r>
              <a:rPr b="0" i="0" lang="en-US" sz="16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The Fourier+Transformer successfully interprets raw sensor windows, achieving 94.8% accuracy on unseen subjects.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p17"/>
          <p:cNvSpPr txBox="1"/>
          <p:nvPr/>
        </p:nvSpPr>
        <p:spPr>
          <a:xfrm>
            <a:off x="914400" y="2833687"/>
            <a:ext cx="4679156" cy="942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Frequency Matters:</a:t>
            </a:r>
            <a:r>
              <a:rPr b="0" i="0" lang="en-US" sz="16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Fusing the FFT branch fixes the Sitting/Standing confusion and aggressively lifts Macro-F1 scores.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p17"/>
          <p:cNvSpPr txBox="1"/>
          <p:nvPr/>
        </p:nvSpPr>
        <p:spPr>
          <a:xfrm>
            <a:off x="914400" y="4005262"/>
            <a:ext cx="4679156" cy="942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Highly Deployable:</a:t>
            </a:r>
            <a:r>
              <a:rPr b="0" i="0" lang="en-US" sz="16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Predicts window-by-window in tens of milliseconds on standard CPU hardware.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p17"/>
          <p:cNvSpPr txBox="1"/>
          <p:nvPr/>
        </p:nvSpPr>
        <p:spPr>
          <a:xfrm>
            <a:off x="914400" y="5176837"/>
            <a:ext cx="4679156" cy="942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Risk Mitigation:</a:t>
            </a:r>
            <a:r>
              <a:rPr b="0" i="0" lang="en-US" sz="16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Cross-device orientation shift is monitored live via prediction confidence to trigger retraining safely.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327" name="Google Shape;327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43650" y="1357312"/>
            <a:ext cx="5267325" cy="4552950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17"/>
          <p:cNvSpPr txBox="1"/>
          <p:nvPr/>
        </p:nvSpPr>
        <p:spPr>
          <a:xfrm>
            <a:off x="762000" y="509587"/>
            <a:ext cx="1140142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Project Conclusions &amp; Live Demo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p17"/>
          <p:cNvSpPr/>
          <p:nvPr/>
        </p:nvSpPr>
        <p:spPr>
          <a:xfrm>
            <a:off x="571500" y="509587"/>
            <a:ext cx="57150" cy="4572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30" name="Google Shape;330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1385887"/>
            <a:ext cx="10477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1" name="Google Shape;331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2871787"/>
            <a:ext cx="10477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2" name="Google Shape;332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043362"/>
            <a:ext cx="10477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3" name="Google Shape;333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5214937"/>
            <a:ext cx="104775" cy="18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38" name="Google Shape;338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39" name="Google Shape;339;p18"/>
          <p:cNvSpPr txBox="1"/>
          <p:nvPr/>
        </p:nvSpPr>
        <p:spPr>
          <a:xfrm>
            <a:off x="3380660" y="2433637"/>
            <a:ext cx="5430678" cy="1381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b="0" i="0" lang="en-US" sz="7200" u="none" cap="none" strike="noStrike">
                <a:solidFill>
                  <a:srgbClr val="38BDF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Questions?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p18"/>
          <p:cNvSpPr txBox="1"/>
          <p:nvPr/>
        </p:nvSpPr>
        <p:spPr>
          <a:xfrm>
            <a:off x="3671887" y="4100512"/>
            <a:ext cx="484822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Thank you for your time and attention.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45" name="Google Shape;345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46" name="Google Shape;346;p19"/>
          <p:cNvSpPr/>
          <p:nvPr/>
        </p:nvSpPr>
        <p:spPr>
          <a:xfrm>
            <a:off x="571500" y="2628900"/>
            <a:ext cx="110490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9"/>
          <p:cNvSpPr/>
          <p:nvPr/>
        </p:nvSpPr>
        <p:spPr>
          <a:xfrm>
            <a:off x="571500" y="3467100"/>
            <a:ext cx="110490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19"/>
          <p:cNvSpPr/>
          <p:nvPr/>
        </p:nvSpPr>
        <p:spPr>
          <a:xfrm>
            <a:off x="571500" y="345757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9"/>
          <p:cNvSpPr/>
          <p:nvPr/>
        </p:nvSpPr>
        <p:spPr>
          <a:xfrm>
            <a:off x="571500" y="345757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9"/>
          <p:cNvSpPr/>
          <p:nvPr/>
        </p:nvSpPr>
        <p:spPr>
          <a:xfrm>
            <a:off x="571500" y="422910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19"/>
          <p:cNvSpPr/>
          <p:nvPr/>
        </p:nvSpPr>
        <p:spPr>
          <a:xfrm>
            <a:off x="571500" y="422910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52" name="Google Shape;352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805112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53" name="Google Shape;353;p19"/>
          <p:cNvSpPr txBox="1"/>
          <p:nvPr/>
        </p:nvSpPr>
        <p:spPr>
          <a:xfrm>
            <a:off x="1666875" y="2771775"/>
            <a:ext cx="99536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b="0" i="0" lang="en-US" sz="97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https://www.gymshark.com/_next/image?url=https%3A%2F%2Fimages.ctfassets.net%2F8urtyqugdt2l%2F4GqzVZoWlPZjaGBuRphrTW%2Fecace34e7c1bbb1dc145a984a99ed7a0%2FTraining_app_mobile.jpg&amp;w=3840&amp;q=85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" name="Google Shape;354;p19"/>
          <p:cNvSpPr txBox="1"/>
          <p:nvPr/>
        </p:nvSpPr>
        <p:spPr>
          <a:xfrm>
            <a:off x="1666875" y="3124200"/>
            <a:ext cx="995362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www.gymshark.com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355" name="Google Shape;355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60997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56" name="Google Shape;356;p19"/>
          <p:cNvSpPr txBox="1"/>
          <p:nvPr/>
        </p:nvSpPr>
        <p:spPr>
          <a:xfrm>
            <a:off x="1666875" y="3652837"/>
            <a:ext cx="9953625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b="0" i="0" lang="en-US" sz="97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https://images.presentationgo.com/2025/04/abstract-neural-network-background.png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7" name="Google Shape;357;p19"/>
          <p:cNvSpPr txBox="1"/>
          <p:nvPr/>
        </p:nvSpPr>
        <p:spPr>
          <a:xfrm>
            <a:off x="1666875" y="3852862"/>
            <a:ext cx="995362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www.presentationgo.com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358" name="Google Shape;358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414837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19"/>
          <p:cNvSpPr txBox="1"/>
          <p:nvPr/>
        </p:nvSpPr>
        <p:spPr>
          <a:xfrm>
            <a:off x="1666875" y="4381500"/>
            <a:ext cx="99536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b="0" i="0" lang="en-US" sz="97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https://www.phocassoftware.com/hs-fs/hubfs/phocas-velocity/images/blog/how-real-time-dashboards-keep-managers-on-target.jpg?width=409&amp;height=227&amp;name=how-real-time-dashboards-keep-managers-on-target.jpg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0" name="Google Shape;360;p19"/>
          <p:cNvSpPr txBox="1"/>
          <p:nvPr/>
        </p:nvSpPr>
        <p:spPr>
          <a:xfrm>
            <a:off x="1666875" y="4733925"/>
            <a:ext cx="995362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www.phocassoftware.com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" name="Google Shape;361;p19"/>
          <p:cNvSpPr txBox="1"/>
          <p:nvPr/>
        </p:nvSpPr>
        <p:spPr>
          <a:xfrm>
            <a:off x="762000" y="571500"/>
            <a:ext cx="1140142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Image Sources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p19"/>
          <p:cNvSpPr/>
          <p:nvPr/>
        </p:nvSpPr>
        <p:spPr>
          <a:xfrm>
            <a:off x="571500" y="571500"/>
            <a:ext cx="57150" cy="4572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