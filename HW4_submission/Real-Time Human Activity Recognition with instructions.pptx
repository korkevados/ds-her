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1675"/>
  <p:notesSz cx="6858000" cy="12191675"/>
  <p:embeddedFontLst>
    <p:embeddedFont>
      <p:font typeface="Quattrocento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h9X/xwq+CMwJHUhVvQmr1Bhfe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regular.fntdata"/><Relationship Id="rId20" Type="http://schemas.openxmlformats.org/officeDocument/2006/relationships/slide" Target="slides/slide16.xml"/><Relationship Id="rId42" Type="http://schemas.openxmlformats.org/officeDocument/2006/relationships/font" Target="fonts/QuattrocentoSans-italic.fntdata"/><Relationship Id="rId41" Type="http://schemas.openxmlformats.org/officeDocument/2006/relationships/font" Target="fonts/QuattrocentoSans-bold.fntdata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QuattrocentoSans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Opening. Do not start with code. Tell the audience this is a workshop-style presentation with notebook checkpoints throughout.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this structure explicitly at the beginning. It addresses the grading feedback without sounding defensive.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this as a fast A++ checklist.</a:t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business value and privacy.</a:t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each question to an experiment: transformer family, FFT branch, sensor ablation.</a:t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units and split. The model receives raw inertial windows; the classical baseline receives engineered features.</a:t>
            </a:r>
            <a:endParaRPr/>
          </a:p>
        </p:txBody>
      </p:sp>
      <p:sp>
        <p:nvSpPr>
          <p:cNvPr id="209" name="Google Shape;2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this slide to make the 128-sample window intuitive.</a:t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 to the pre-executed notebook now. Show section 2: loading data, class distribution, raw windows and spectra. Do not scroll through code line-by-line; show outputs.</a:t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that class imbalance is not the main issue; generalization is.</a:t>
            </a:r>
            <a:endParaRPr/>
          </a:p>
        </p:txBody>
      </p:sp>
      <p:sp>
        <p:nvSpPr>
          <p:cNvPr id="274" name="Google Shape;2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raw window plots to give intuition before the statistics.</a:t>
            </a:r>
            <a:endParaRPr/>
          </a:p>
        </p:txBody>
      </p:sp>
      <p:sp>
        <p:nvSpPr>
          <p:cNvPr id="294" name="Google Shape;2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one of the central insights; connect it to zero dynamic/static confusion later.</a:t>
            </a:r>
            <a:endParaRPr/>
          </a:p>
        </p:txBody>
      </p:sp>
      <p:sp>
        <p:nvSpPr>
          <p:cNvPr id="310" name="Google Shape;3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motivates the Fourier branch.</a:t>
            </a:r>
            <a:endParaRPr/>
          </a:p>
        </p:txBody>
      </p:sp>
      <p:sp>
        <p:nvSpPr>
          <p:cNvPr id="338" name="Google Shape;3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FFT bin 0/DC without equations: mean acceleration per axis carries orientation.</a:t>
            </a:r>
            <a:endParaRPr/>
          </a:p>
        </p:txBody>
      </p:sp>
      <p:sp>
        <p:nvSpPr>
          <p:cNvPr id="356" name="Google Shape;3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this to motivate sensor ablation.</a:t>
            </a:r>
            <a:endParaRPr/>
          </a:p>
        </p:txBody>
      </p:sp>
      <p:sp>
        <p:nvSpPr>
          <p:cNvPr id="373" name="Google Shape;3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fairness slide: classical baselines are strong and must be respected.</a:t>
            </a:r>
            <a:endParaRPr/>
          </a:p>
        </p:txBody>
      </p:sp>
      <p:sp>
        <p:nvSpPr>
          <p:cNvPr id="410" name="Google Shape;41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Section 3. Show the architecture cell and the helper modules list. Do not paste code in slides. Explain where the code lives and why it is readable.</a:t>
            </a:r>
            <a:endParaRPr/>
          </a:p>
        </p:txBody>
      </p:sp>
      <p:sp>
        <p:nvSpPr>
          <p:cNvPr id="439" name="Google Shape;4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design with no code. Emphasize time branch + frequency branch + late fusion.</a:t>
            </a:r>
            <a:endParaRPr/>
          </a:p>
        </p:txBody>
      </p:sp>
      <p:sp>
        <p:nvSpPr>
          <p:cNvPr id="455" name="Google Shape;45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earns credibility. Mention test set touched once.</a:t>
            </a:r>
            <a:endParaRPr/>
          </a:p>
        </p:txBody>
      </p:sp>
      <p:sp>
        <p:nvSpPr>
          <p:cNvPr id="510" name="Google Shape;51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validation-only ablation results.</a:t>
            </a:r>
            <a:endParaRPr/>
          </a:p>
        </p:txBody>
      </p:sp>
      <p:sp>
        <p:nvSpPr>
          <p:cNvPr id="546" name="Google Shape;54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this back to the correlation slide and to deployment requirements.</a:t>
            </a:r>
            <a:endParaRPr/>
          </a:p>
        </p:txBody>
      </p:sp>
      <p:sp>
        <p:nvSpPr>
          <p:cNvPr id="600" name="Google Shape;6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results section. Show final comparison, classification report, confusion matrix. This replaces static code with live evidence.</a:t>
            </a:r>
            <a:endParaRPr/>
          </a:p>
        </p:txBody>
      </p:sp>
      <p:sp>
        <p:nvSpPr>
          <p:cNvPr id="648" name="Google Shape;64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precise: engineered Logistic Regression has the top classical score; deployed deep model is near-SOTA and end-to-end.</a:t>
            </a:r>
            <a:endParaRPr/>
          </a:p>
        </p:txBody>
      </p:sp>
      <p:sp>
        <p:nvSpPr>
          <p:cNvPr id="664" name="Google Shape;66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simplified confusion table to explain the remaining error mode.</a:t>
            </a:r>
            <a:endParaRPr/>
          </a:p>
        </p:txBody>
      </p:sp>
      <p:sp>
        <p:nvSpPr>
          <p:cNvPr id="718" name="Google Shape;71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conceptual payoff: EDA → architecture → result.</a:t>
            </a:r>
            <a:endParaRPr/>
          </a:p>
        </p:txBody>
      </p:sp>
      <p:sp>
        <p:nvSpPr>
          <p:cNvPr id="794" name="Google Shape;79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packaging, not code.</a:t>
            </a:r>
            <a:endParaRPr/>
          </a:p>
        </p:txBody>
      </p:sp>
      <p:sp>
        <p:nvSpPr>
          <p:cNvPr id="835" name="Google Shape;83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operational. This is the workshop/demo flow.</a:t>
            </a:r>
            <a:endParaRPr/>
          </a:p>
        </p:txBody>
      </p:sp>
      <p:sp>
        <p:nvSpPr>
          <p:cNvPr id="863" name="Google Shape;86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the notebook live inference section. Show sample_windows prediction or the fallback output. Then move to the live browser demo if available.</a:t>
            </a:r>
            <a:endParaRPr/>
          </a:p>
        </p:txBody>
      </p:sp>
      <p:sp>
        <p:nvSpPr>
          <p:cNvPr id="882" name="Google Shape;88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directly addresses the “cluster did not work” feedback.</a:t>
            </a:r>
            <a:endParaRPr/>
          </a:p>
        </p:txBody>
      </p:sp>
      <p:sp>
        <p:nvSpPr>
          <p:cNvPr id="898" name="Google Shape;89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honest limitations and next steps.</a:t>
            </a:r>
            <a:endParaRPr/>
          </a:p>
        </p:txBody>
      </p:sp>
      <p:sp>
        <p:nvSpPr>
          <p:cNvPr id="933" name="Google Shape;93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with three concrete claims.</a:t>
            </a:r>
            <a:endParaRPr/>
          </a:p>
        </p:txBody>
      </p:sp>
      <p:sp>
        <p:nvSpPr>
          <p:cNvPr id="965" name="Google Shape;96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only if asked.</a:t>
            </a:r>
            <a:endParaRPr/>
          </a:p>
        </p:txBody>
      </p:sp>
      <p:sp>
        <p:nvSpPr>
          <p:cNvPr id="1003" name="Google Shape;100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06111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696712" y="9601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00"/>
              <a:buFont typeface="Quattrocento Sans"/>
              <a:buNone/>
            </a:pPr>
            <a:r>
              <a:rPr b="0" i="0" lang="en-US" sz="34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◌</a:t>
            </a:r>
            <a:endParaRPr b="0" i="0" sz="3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645920" y="1828800"/>
            <a:ext cx="89154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200"/>
              <a:buFont typeface="Quattrocento Sans"/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Human Activity</a:t>
            </a:r>
            <a:endParaRPr b="0" i="0" sz="4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200"/>
              <a:buFont typeface="Quattrocento Sans"/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Recognition</a:t>
            </a:r>
            <a:endParaRPr b="0" i="0" sz="4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920240" y="303580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600"/>
              <a:buFont typeface="Quattrocento Sans"/>
              <a:buNone/>
            </a:pPr>
            <a:r>
              <a:rPr b="0" i="0" lang="en-US" sz="16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Smartphone Sensors</a:t>
            </a:r>
            <a:r>
              <a:rPr b="0" i="0" lang="en-US" sz="16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</a:t>
            </a:r>
            <a:r>
              <a:rPr b="1" i="0" lang="en-US" sz="16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Fourier+Transformer</a:t>
            </a:r>
            <a:endParaRPr b="0" i="0" sz="1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3977640" y="3566160"/>
            <a:ext cx="4251960" cy="0"/>
          </a:xfrm>
          <a:prstGeom prst="straightConnector1">
            <a:avLst/>
          </a:prstGeom>
          <a:noFill/>
          <a:ln cap="flat" cmpd="sng" w="17775">
            <a:solidFill>
              <a:srgbClr val="22D3EE">
                <a:alpha val="9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2880360" y="38862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CRISP-DM Final Report (HW4) · Evaluation &amp; Deployment</a:t>
            </a:r>
            <a:endParaRPr b="0" i="0" sz="12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14600" y="47548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Almog Tal · Daniel Korkevados · Lior Sulshtein · Ilay Damari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788920" y="5074920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Ben-Gurion University · Introduction to Data Science in Industry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3474720" y="6172200"/>
            <a:ext cx="5212080" cy="0"/>
          </a:xfrm>
          <a:prstGeom prst="straightConnector1">
            <a:avLst/>
          </a:prstGeom>
          <a:noFill/>
          <a:ln cap="flat" cmpd="sng" w="10150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" name="Google Shape;32;p2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WORKSHOP DESIGN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Presentation contract: workshop, not slide dump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13232" y="1325880"/>
            <a:ext cx="333756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77824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7824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PPT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71600" y="149961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code pasted into slides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371600" y="18288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explain concepts and results. Implementation is shown inside the executed notebook.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434840" y="1325880"/>
            <a:ext cx="333756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99432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99432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NB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93208" y="149961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 appears early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93208" y="18288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switch into HAR_HW4_display.ipynb during the EDA section, then return to slides.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156448" y="1325880"/>
            <a:ext cx="333756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321040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321040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814816" y="149961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 has fallback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814816" y="18288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RunPod live service is primary; sample windows keep the workshop working if connectivity fails.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2904134" y="388620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" name="Google Shape;52;p2"/>
          <p:cNvCxnSpPr/>
          <p:nvPr/>
        </p:nvCxnSpPr>
        <p:spPr>
          <a:xfrm>
            <a:off x="4967021" y="388620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" name="Google Shape;53;p2"/>
          <p:cNvCxnSpPr/>
          <p:nvPr/>
        </p:nvCxnSpPr>
        <p:spPr>
          <a:xfrm>
            <a:off x="7029907" y="388620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" name="Google Shape;54;p2"/>
          <p:cNvCxnSpPr/>
          <p:nvPr/>
        </p:nvCxnSpPr>
        <p:spPr>
          <a:xfrm>
            <a:off x="9092794" y="388620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" name="Google Shape;55;p2"/>
          <p:cNvSpPr/>
          <p:nvPr/>
        </p:nvSpPr>
        <p:spPr>
          <a:xfrm>
            <a:off x="1005840" y="3429000"/>
            <a:ext cx="1898294" cy="914400"/>
          </a:xfrm>
          <a:prstGeom prst="roundRect">
            <a:avLst>
              <a:gd fmla="val 80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115568" y="299008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115568" y="305409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15568" y="3657600"/>
            <a:ext cx="1678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window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15568" y="3995928"/>
            <a:ext cx="16788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128×9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068726" y="3429000"/>
            <a:ext cx="1898294" cy="914400"/>
          </a:xfrm>
          <a:prstGeom prst="roundRect">
            <a:avLst>
              <a:gd fmla="val 80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178454" y="299008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178454" y="305409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178454" y="3657600"/>
            <a:ext cx="1678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branch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178454" y="3995928"/>
            <a:ext cx="16788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 tokens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131613" y="3429000"/>
            <a:ext cx="1898294" cy="914400"/>
          </a:xfrm>
          <a:prstGeom prst="roundRect">
            <a:avLst>
              <a:gd fmla="val 80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241341" y="299008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241341" y="305409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241341" y="3657600"/>
            <a:ext cx="1678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FFT branch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241341" y="3995928"/>
            <a:ext cx="16788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 bins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194499" y="3429000"/>
            <a:ext cx="1898294" cy="914400"/>
          </a:xfrm>
          <a:prstGeom prst="roundRect">
            <a:avLst>
              <a:gd fmla="val 8000" name="adj"/>
            </a:avLst>
          </a:prstGeom>
          <a:solidFill>
            <a:srgbClr val="152D26"/>
          </a:solidFill>
          <a:ln cap="flat" cmpd="sng" w="11425">
            <a:solidFill>
              <a:srgbClr val="A3E63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7304227" y="2990088"/>
            <a:ext cx="329184" cy="329184"/>
          </a:xfrm>
          <a:prstGeom prst="ellipse">
            <a:avLst/>
          </a:prstGeom>
          <a:solidFill>
            <a:srgbClr val="A3E635"/>
          </a:solidFill>
          <a:ln cap="flat" cmpd="sng" w="127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304227" y="305409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304227" y="3657600"/>
            <a:ext cx="1678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 fusion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304227" y="3995928"/>
            <a:ext cx="16788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CLS + CLS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9257386" y="3429000"/>
            <a:ext cx="1898294" cy="914400"/>
          </a:xfrm>
          <a:prstGeom prst="roundRect">
            <a:avLst>
              <a:gd fmla="val 80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9367114" y="299008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9367114" y="305409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9367114" y="3657600"/>
            <a:ext cx="1678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Classifier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9367114" y="3995928"/>
            <a:ext cx="16788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classes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463040" y="4800600"/>
            <a:ext cx="9326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Rhythm: 6–8 slides → notebook output → 5–6 slides → notebook output → deployment demo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874520" y="54589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203704" y="5440680"/>
            <a:ext cx="8631936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directly avoids presenting the full deck first and code only at the end.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1874520" y="575614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203704" y="5737860"/>
            <a:ext cx="8631936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notebook is part of the narrative: EDA, model, results and inference.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85800" y="6510528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58D"/>
              </a:buClr>
              <a:buSzPts val="830"/>
              <a:buFont typeface="Quattrocento Sans"/>
              <a:buNone/>
            </a:pPr>
            <a:r>
              <a:rPr b="0" i="0" lang="en-US" sz="830" u="none" cap="none" strike="noStrike">
                <a:solidFill>
                  <a:srgbClr val="5E75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Presenter instruction: keep this slide short; use it as the contract for the session.</a:t>
            </a:r>
            <a:endParaRPr b="0" i="0" sz="8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3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CHECKLIST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around the lecturer feedback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31520" y="1325880"/>
            <a:ext cx="5372100" cy="633549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77240" y="1353312"/>
            <a:ext cx="528066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103620" y="1325880"/>
            <a:ext cx="2686050" cy="633549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149340" y="1353312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Deck response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789670" y="1325880"/>
            <a:ext cx="2686050" cy="633549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8835390" y="1353312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it appears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31520" y="1959429"/>
            <a:ext cx="537210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77240" y="1986861"/>
            <a:ext cx="528066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Bad slides/code integration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103620" y="1959429"/>
            <a:ext cx="268605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149340" y="1986861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Interleaved notebook checkpoints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789670" y="1959429"/>
            <a:ext cx="268605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835390" y="1986861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9, 18, 23, 29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31520" y="2592977"/>
            <a:ext cx="537210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77240" y="2620409"/>
            <a:ext cx="528066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notebooks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103620" y="2592977"/>
            <a:ext cx="268605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149340" y="2620409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 named and used live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789670" y="2592977"/>
            <a:ext cx="268605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835390" y="2620409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HAR_HW4_display.ipynb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31520" y="3226526"/>
            <a:ext cx="537210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777240" y="3253958"/>
            <a:ext cx="528066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first, code after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103620" y="3226526"/>
            <a:ext cx="268605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149340" y="3253958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Workshop rhythm from slide 2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789670" y="3226526"/>
            <a:ext cx="268605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835390" y="3253958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Throughout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31520" y="3860074"/>
            <a:ext cx="537210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77240" y="3887506"/>
            <a:ext cx="528066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too thin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103620" y="3860074"/>
            <a:ext cx="268605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149340" y="3887506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Rich EDA: windows, subjects, energy, FFT, gravity, PCA, correlation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789670" y="3860074"/>
            <a:ext cx="268605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8835390" y="3887506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31520" y="4493623"/>
            <a:ext cx="537210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777240" y="4521055"/>
            <a:ext cx="528066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Unreadable code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103620" y="4493623"/>
            <a:ext cx="268605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149340" y="4521055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 stays in helper modules, not pasted onto PPT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8789670" y="4493623"/>
            <a:ext cx="2686050" cy="633549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8835390" y="4521055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 + files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31520" y="5127171"/>
            <a:ext cx="537210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777240" y="5154603"/>
            <a:ext cx="528066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not ready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103620" y="5127171"/>
            <a:ext cx="268605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149340" y="5154603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RunPod + local sample fallback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8789670" y="5127171"/>
            <a:ext cx="2686050" cy="633549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8835390" y="5154603"/>
            <a:ext cx="2594610" cy="587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4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896112" y="598932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principle: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2121408" y="598932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80"/>
              <a:buFont typeface="Quattrocento Sans"/>
              <a:buNone/>
            </a:pPr>
            <a:r>
              <a:rPr b="0" i="0" lang="en-US" sz="11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tell the story. The notebook proves it. The demo closes it.</a:t>
            </a:r>
            <a:endParaRPr b="0" i="0" sz="11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4"/>
          <p:cNvCxnSpPr/>
          <p:nvPr/>
        </p:nvCxnSpPr>
        <p:spPr>
          <a:xfrm>
            <a:off x="5074920" y="2240280"/>
            <a:ext cx="2057400" cy="0"/>
          </a:xfrm>
          <a:prstGeom prst="straightConnector1">
            <a:avLst/>
          </a:prstGeom>
          <a:noFill/>
          <a:ln cap="flat" cmpd="sng" w="17775">
            <a:solidFill>
              <a:srgbClr val="22D3EE">
                <a:alpha val="9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4"/>
          <p:cNvSpPr/>
          <p:nvPr/>
        </p:nvSpPr>
        <p:spPr>
          <a:xfrm>
            <a:off x="1828800" y="2514600"/>
            <a:ext cx="8531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400"/>
              <a:buFont typeface="Quattrocento Sans"/>
              <a:buNone/>
            </a:pPr>
            <a:r>
              <a:rPr b="0" i="0" lang="en-US" sz="34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1: Motivation &amp; Data</a:t>
            </a:r>
            <a:endParaRPr b="0" i="0" sz="3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611880" y="315468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Presented by Almog Tal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5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MOTIVATION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Smartphone activity recognition without extra hardware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13232" y="1143000"/>
            <a:ext cx="4023360" cy="4892040"/>
          </a:xfrm>
          <a:prstGeom prst="roundRect">
            <a:avLst>
              <a:gd fmla="val 1818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8.png" id="160" name="Google Shape;1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1775295"/>
            <a:ext cx="3877056" cy="335313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877824" y="5733288"/>
            <a:ext cx="36941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Smartphone sensors are already present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074920" y="1325880"/>
            <a:ext cx="169164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148072" y="149047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202936" y="1938528"/>
            <a:ext cx="1435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 devices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995160" y="1325880"/>
            <a:ext cx="169164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7068312" y="149047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 Hz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123176" y="1938528"/>
            <a:ext cx="1435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stream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8915400" y="1325880"/>
            <a:ext cx="169164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8988552" y="1490472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2.56 s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043416" y="1938528"/>
            <a:ext cx="1435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074920" y="280720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04104" y="2788920"/>
            <a:ext cx="5705856" cy="499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80"/>
              <a:buFont typeface="Quattrocento Sans"/>
              <a:buNone/>
            </a:pPr>
            <a:r>
              <a:rPr b="0" i="0" lang="en-US" sz="12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**Unobtrusive monitoring** without cameras or external wearables.</a:t>
            </a:r>
            <a:endParaRPr b="0" i="0" sz="12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074920" y="3325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404104" y="3307080"/>
            <a:ext cx="5705856" cy="499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80"/>
              <a:buFont typeface="Quattrocento Sans"/>
              <a:buNone/>
            </a:pPr>
            <a:r>
              <a:rPr b="0" i="0" lang="en-US" sz="12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**Privacy-friendly signal** for context-aware health applications.</a:t>
            </a:r>
            <a:endParaRPr b="0" i="0" sz="12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074920" y="38435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04104" y="3825240"/>
            <a:ext cx="5705856" cy="499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80"/>
              <a:buFont typeface="Quattrocento Sans"/>
              <a:buNone/>
            </a:pPr>
            <a:r>
              <a:rPr b="0" i="0" lang="en-US" sz="12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**Real challenge:** generalization to completely unseen people.</a:t>
            </a:r>
            <a:endParaRPr b="0" i="0" sz="12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074920" y="4983480"/>
            <a:ext cx="6080760" cy="640080"/>
          </a:xfrm>
          <a:prstGeom prst="roundRect">
            <a:avLst>
              <a:gd fmla="val 11429" name="adj"/>
            </a:avLst>
          </a:prstGeom>
          <a:solidFill>
            <a:srgbClr val="152D26"/>
          </a:solidFill>
          <a:ln cap="flat" cmpd="sng" w="1015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257800" y="5148072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Objective: raw phone stream → activity label in near real time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6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6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RESEARCH QUESTIONS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research questions drive the project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31520" y="1417320"/>
            <a:ext cx="3337560" cy="1920240"/>
          </a:xfrm>
          <a:prstGeom prst="roundRect">
            <a:avLst>
              <a:gd fmla="val 381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89611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9611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M1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389888" y="159105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Transformer efficacy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389888" y="192024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 a Transformer label six activities from only 2.56 s of raw 9-channel signal?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434840" y="1417320"/>
            <a:ext cx="3337560" cy="1920240"/>
          </a:xfrm>
          <a:prstGeom prst="roundRect">
            <a:avLst>
              <a:gd fmla="val 381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9943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9943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FFT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093208" y="159105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Frequency impact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093208" y="192024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3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adding FFT information improve predictions over raw time signal alone?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138160" y="1417320"/>
            <a:ext cx="3337560" cy="1920240"/>
          </a:xfrm>
          <a:prstGeom prst="roundRect">
            <a:avLst>
              <a:gd fmla="val 381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830275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830275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S9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796528" y="159105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relevance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796528" y="192024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Which smartphone channels are actually required for accurate classification?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60120" y="4434840"/>
            <a:ext cx="10104120" cy="777240"/>
          </a:xfrm>
          <a:prstGeom prst="roundRect">
            <a:avLst>
              <a:gd fmla="val 9412" name="adj"/>
            </a:avLst>
          </a:prstGeom>
          <a:solidFill>
            <a:srgbClr val="102B47"/>
          </a:solidFill>
          <a:ln cap="flat" cmpd="sng" w="10150">
            <a:solidFill>
              <a:srgbClr val="22D3E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1234440" y="4681728"/>
            <a:ext cx="9555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320"/>
              <a:buFont typeface="Quattrocento Sans"/>
              <a:buNone/>
            </a:pPr>
            <a:r>
              <a:rPr b="0" i="0" lang="en-US" sz="132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later result answers one of these questions: model comparison, architecture ablation and sensor ablation.</a:t>
            </a:r>
            <a:endParaRPr b="0" i="0" sz="13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7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7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DATA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Dataset: UCI HAR, 30 subjects, six activities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77240" y="1280160"/>
            <a:ext cx="182880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50392" y="1444752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10,299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905256" y="189280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windows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880360" y="1280160"/>
            <a:ext cx="182880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2953512" y="1444752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008376" y="189280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volunteers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983480" y="1280160"/>
            <a:ext cx="182880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5056632" y="1444752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128×9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111496" y="189280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 shape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086600" y="1280160"/>
            <a:ext cx="182880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7159752" y="1444752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 / 9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214616" y="189280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/ test subjects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9189720" y="1280160"/>
            <a:ext cx="1828800" cy="1005840"/>
          </a:xfrm>
          <a:prstGeom prst="roundRect">
            <a:avLst>
              <a:gd fmla="val 727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9262872" y="1444752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9317736" y="189280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30"/>
              <a:buFont typeface="Quattrocento Sans"/>
              <a:buNone/>
            </a:pPr>
            <a:r>
              <a:rPr b="0" i="0" lang="en-US" sz="103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activity classes</a:t>
            </a:r>
            <a:endParaRPr b="0" i="0" sz="10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77240" y="2788920"/>
            <a:ext cx="5349240" cy="2971800"/>
          </a:xfrm>
          <a:prstGeom prst="roundRect">
            <a:avLst>
              <a:gd fmla="val 2462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concept_one_window.png" id="232" name="Google Shape;2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3053715"/>
            <a:ext cx="5202936" cy="216789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/>
          <p:nvPr/>
        </p:nvSpPr>
        <p:spPr>
          <a:xfrm>
            <a:off x="941832" y="5458968"/>
            <a:ext cx="50200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window: 128 timesteps × 9 channels + label + subject id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446520" y="2788920"/>
            <a:ext cx="4983480" cy="2971800"/>
          </a:xfrm>
          <a:prstGeom prst="roundRect">
            <a:avLst>
              <a:gd fmla="val 2462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concept_window_to_models.png" id="235" name="Google Shape;2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9682" y="2862072"/>
            <a:ext cx="4677156" cy="255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6611112" y="5458968"/>
            <a:ext cx="46542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window supports raw-signal Transformers and engineered baselines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85800" y="6510528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58D"/>
              </a:buClr>
              <a:buSzPts val="830"/>
              <a:buFont typeface="Quattrocento Sans"/>
              <a:buNone/>
            </a:pPr>
            <a:r>
              <a:rPr b="0" i="0" lang="en-US" sz="830" u="none" cap="none" strike="noStrike">
                <a:solidFill>
                  <a:srgbClr val="5E75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Labels: WALKING, WALKING_UPSTAIRS, WALKING_DOWNSTAIRS, SITTING, STANDING, LAYING</a:t>
            </a:r>
            <a:endParaRPr b="0" i="0" sz="8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8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8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DATA PIPELINE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window is a fixed 2.56 second slice of the stream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85800" y="1188720"/>
            <a:ext cx="10835640" cy="4389120"/>
          </a:xfrm>
          <a:prstGeom prst="roundRect">
            <a:avLst>
              <a:gd fmla="val 1667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concept_windowing.png" id="249" name="Google Shape;2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274" y="1261872"/>
            <a:ext cx="8730691" cy="396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/>
          <p:nvPr/>
        </p:nvSpPr>
        <p:spPr>
          <a:xfrm>
            <a:off x="850392" y="5276088"/>
            <a:ext cx="10506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 Hz sampling · 128 samples · stride 64 samples · 50% overlap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097280" y="58247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426464" y="5806440"/>
            <a:ext cx="95463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20"/>
              <a:buFont typeface="Quattrocento Sans"/>
              <a:buNone/>
            </a:pPr>
            <a:r>
              <a:rPr b="0" i="0" lang="en-US" sz="112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window is classified into exactly one activity.</a:t>
            </a:r>
            <a:endParaRPr b="0" i="0" sz="11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097280" y="60761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426464" y="6057900"/>
            <a:ext cx="95463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20"/>
              <a:buFont typeface="Quattrocento Sans"/>
              <a:buNone/>
            </a:pPr>
            <a:r>
              <a:rPr b="0" i="0" lang="en-US" sz="112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official dataset uses overlap, so subject-disjoint splitting is essential.</a:t>
            </a:r>
            <a:endParaRPr b="0" i="0" sz="11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9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9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 checkpoint 1: EDA outputs, not pasted code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960120" y="1554480"/>
            <a:ext cx="10287000" cy="3611880"/>
          </a:xfrm>
          <a:prstGeom prst="roundRect">
            <a:avLst>
              <a:gd fmla="val 2025" name="adj"/>
            </a:avLst>
          </a:prstGeom>
          <a:solidFill>
            <a:srgbClr val="0B1F35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234440" y="1828800"/>
            <a:ext cx="9738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 CHECKPOINT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508760" y="224028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HAR_HW4_display.ipynb · Section 2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965960" y="2926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50"/>
              <a:buFont typeface="Quattrocento Sans"/>
              <a:buNone/>
            </a:pPr>
            <a:r>
              <a:rPr b="1" i="0" lang="en-US" sz="145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executed EDA cells: class balance, windows per subject, raw signals, FFT and PCA</a:t>
            </a:r>
            <a:endParaRPr b="0" i="0" sz="14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828800" y="3547872"/>
            <a:ext cx="8549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prevents a slide-only presentation and proves the EDA live without pasting code into the deck.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828800" y="4251960"/>
            <a:ext cx="8549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7E8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Return to slide 10 after the EDA outputs.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10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0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EDA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1: the data is balanced and subject-covered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85800" y="1143000"/>
            <a:ext cx="5212080" cy="4343400"/>
          </a:xfrm>
          <a:prstGeom prst="roundRect">
            <a:avLst>
              <a:gd fmla="val 1684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class_distribution.png" id="282" name="Google Shape;2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1872261"/>
            <a:ext cx="5065776" cy="261055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850392" y="5184648"/>
            <a:ext cx="48828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ratio is balanced enough for macro-F1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263640" y="1143000"/>
            <a:ext cx="5212080" cy="4343400"/>
          </a:xfrm>
          <a:prstGeom prst="roundRect">
            <a:avLst>
              <a:gd fmla="val 1684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windows_per_subject.png" id="285" name="Google Shape;28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792" y="2147213"/>
            <a:ext cx="5065776" cy="206065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/>
          <p:nvPr/>
        </p:nvSpPr>
        <p:spPr>
          <a:xfrm>
            <a:off x="6428232" y="5184648"/>
            <a:ext cx="48828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training subject contributes all six activities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914400" y="58247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243584" y="5806440"/>
            <a:ext cx="1018641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080"/>
              <a:buFont typeface="Quattrocento Sans"/>
              <a:buNone/>
            </a:pPr>
            <a:r>
              <a:rPr b="0" i="0" lang="en-US" sz="10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Macro-F1 is appropriate because all six classes should matter equally.</a:t>
            </a:r>
            <a:endParaRPr b="0" i="0" sz="10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914400" y="60761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243584" y="6057900"/>
            <a:ext cx="1018641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080"/>
              <a:buFont typeface="Quattrocento Sans"/>
              <a:buNone/>
            </a:pPr>
            <a:r>
              <a:rPr b="0" i="0" lang="en-US" sz="10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Subject coverage supports subject-wise validation and ablations.</a:t>
            </a:r>
            <a:endParaRPr b="0" i="0" sz="10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" name="Google Shape;297;p11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1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EDA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2: dynamic and static windows look fundamentally different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85800" y="1097280"/>
            <a:ext cx="5257800" cy="4800600"/>
          </a:xfrm>
          <a:prstGeom prst="roundRect">
            <a:avLst>
              <a:gd fmla="val 1524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raw_walking.png" id="302" name="Google Shape;3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1816748"/>
            <a:ext cx="5111496" cy="308734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/>
          <p:nvPr/>
        </p:nvSpPr>
        <p:spPr>
          <a:xfrm>
            <a:off x="850392" y="5596128"/>
            <a:ext cx="49286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Walking: oscillatory multi-axis movement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263640" y="1097280"/>
            <a:ext cx="5257800" cy="4800600"/>
          </a:xfrm>
          <a:prstGeom prst="roundRect">
            <a:avLst>
              <a:gd fmla="val 1524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raw_laying.png" id="305" name="Google Shape;30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792" y="1816748"/>
            <a:ext cx="5111496" cy="308734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1"/>
          <p:cNvSpPr/>
          <p:nvPr/>
        </p:nvSpPr>
        <p:spPr>
          <a:xfrm>
            <a:off x="6428232" y="5596128"/>
            <a:ext cx="49286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Laying: mostly flat signal with gravity orientation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12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2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EDA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3: motion energy separates dynamic from static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731520" y="1143000"/>
            <a:ext cx="6400800" cy="4572000"/>
          </a:xfrm>
          <a:prstGeom prst="roundRect">
            <a:avLst>
              <a:gd fmla="val 1600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dynamic_vs_static.png" id="318" name="Google Shape;3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703198"/>
            <a:ext cx="6254496" cy="317728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/>
          <p:nvPr/>
        </p:nvSpPr>
        <p:spPr>
          <a:xfrm>
            <a:off x="896112" y="5413248"/>
            <a:ext cx="60716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Body-acceleration magnitude standard deviation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452360" y="1417320"/>
            <a:ext cx="352044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761695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761695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110728" y="159105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cluster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8110728" y="19202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Walking, upstairs and downstairs have high within-window motion energy.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7452360" y="2788920"/>
            <a:ext cx="352044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7616952" y="29535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7616952" y="29900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8110728" y="296265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cluster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110728" y="32918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Sitting, standing and laying are near-flat with tiny body-acceleration variation.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7452360" y="4160520"/>
            <a:ext cx="352044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7616952" y="43251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7616952" y="43616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8110728" y="433425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errors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8110728" y="466344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deployed model shows essentially zero dynamic ↔ static mistakes.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" name="Google Shape;341;p13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3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EDA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4: walking has a gait peak; static postures are near-DC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85800" y="1051560"/>
            <a:ext cx="5486400" cy="4754880"/>
          </a:xfrm>
          <a:prstGeom prst="roundRect">
            <a:avLst>
              <a:gd fmla="val 1538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fft_spectra.png" id="346" name="Google Shape;3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1927058"/>
            <a:ext cx="5340096" cy="272956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850392" y="5504688"/>
            <a:ext cx="5157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 amplitude spectrum: walking variants show a gait peak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446520" y="1051560"/>
            <a:ext cx="5074920" cy="4754880"/>
          </a:xfrm>
          <a:prstGeom prst="roundRect">
            <a:avLst>
              <a:gd fmla="val 1538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dominant_freq.png" id="349" name="Google Shape;3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9672" y="2099115"/>
            <a:ext cx="4928616" cy="238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3"/>
          <p:cNvSpPr/>
          <p:nvPr/>
        </p:nvSpPr>
        <p:spPr>
          <a:xfrm>
            <a:off x="6611112" y="5504688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Dominant frequency: walking clusters near cadence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920240" y="59893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signal: ~1.6 Hz cadence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7178040" y="59893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modeling implication: frequency domain is not optional.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14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14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EDA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5: gravity direction explains the static posture challenge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685800" y="1051560"/>
            <a:ext cx="5303520" cy="4892040"/>
          </a:xfrm>
          <a:prstGeom prst="roundRect">
            <a:avLst>
              <a:gd fmla="val 1495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gravity_orientation.png" id="364" name="Google Shape;3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1403788"/>
            <a:ext cx="5157216" cy="391326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850392" y="5641848"/>
            <a:ext cx="4974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 total-acc X/Z separates sitting, standing and laying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6263640" y="1051560"/>
            <a:ext cx="5257800" cy="4892040"/>
          </a:xfrm>
          <a:prstGeom prst="roundRect">
            <a:avLst>
              <a:gd fmla="val 1495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pca_2d.png" id="367" name="Google Shape;36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792" y="1344076"/>
            <a:ext cx="5111496" cy="403268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4"/>
          <p:cNvSpPr/>
          <p:nvPr/>
        </p:nvSpPr>
        <p:spPr>
          <a:xfrm>
            <a:off x="6428232" y="5641848"/>
            <a:ext cx="49286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PCA shows structured clusters in raw 128×9 space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1554480" y="6080760"/>
            <a:ext cx="9052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270"/>
              <a:buFont typeface="Quattrocento Sans"/>
              <a:buNone/>
            </a:pPr>
            <a:r>
              <a:rPr b="1" i="0" lang="en-US" sz="127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postures are hard because they are near-DC but differ by gravity orientation.</a:t>
            </a:r>
            <a:endParaRPr b="0" i="0" sz="12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6" name="Google Shape;376;p15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5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1 · EDA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6: accelerometer and gyroscope are complementary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68680" y="1143000"/>
            <a:ext cx="5120640" cy="4800600"/>
          </a:xfrm>
          <a:prstGeom prst="roundRect">
            <a:avLst>
              <a:gd fmla="val 1524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channel_correlation.png" id="381" name="Google Shape;3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1297154"/>
            <a:ext cx="4974336" cy="421797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5"/>
          <p:cNvSpPr/>
          <p:nvPr/>
        </p:nvSpPr>
        <p:spPr>
          <a:xfrm>
            <a:off x="1033272" y="5641848"/>
            <a:ext cx="4791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Channel correlation across all timesteps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446520" y="1417320"/>
            <a:ext cx="4251960" cy="1051560"/>
          </a:xfrm>
          <a:prstGeom prst="roundRect">
            <a:avLst>
              <a:gd fmla="val 695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661111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661111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7104888" y="1591056"/>
            <a:ext cx="3429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Acceleration channels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7104888" y="19202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acceleration captures both motion and gravity orientation.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446520" y="2788920"/>
            <a:ext cx="4251960" cy="1051560"/>
          </a:xfrm>
          <a:prstGeom prst="roundRect">
            <a:avLst>
              <a:gd fmla="val 695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6611112" y="29535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6611112" y="29900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GYR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7104888" y="2962656"/>
            <a:ext cx="3429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Gyroscope channels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7104888" y="32918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correlation with acceleration: complementary, but weak alone.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446520" y="4160520"/>
            <a:ext cx="4251960" cy="1051560"/>
          </a:xfrm>
          <a:prstGeom prst="roundRect">
            <a:avLst>
              <a:gd fmla="val 695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6611112" y="43251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6611112" y="43616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ABL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7104888" y="4334256"/>
            <a:ext cx="3429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Experiment design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7104888" y="46634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ablation tests each modality instead of guessing.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4" name="Google Shape;404;p16"/>
          <p:cNvCxnSpPr/>
          <p:nvPr/>
        </p:nvCxnSpPr>
        <p:spPr>
          <a:xfrm>
            <a:off x="5074920" y="2240280"/>
            <a:ext cx="2057400" cy="0"/>
          </a:xfrm>
          <a:prstGeom prst="straightConnector1">
            <a:avLst/>
          </a:prstGeom>
          <a:noFill/>
          <a:ln cap="flat" cmpd="sng" w="17775">
            <a:solidFill>
              <a:srgbClr val="22D3EE">
                <a:alpha val="9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16"/>
          <p:cNvSpPr/>
          <p:nvPr/>
        </p:nvSpPr>
        <p:spPr>
          <a:xfrm>
            <a:off x="1828800" y="2514600"/>
            <a:ext cx="8531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400"/>
              <a:buFont typeface="Quattrocento Sans"/>
              <a:buNone/>
            </a:pPr>
            <a:r>
              <a:rPr b="0" i="0" lang="en-US" sz="34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2: Methodology &amp; Models</a:t>
            </a:r>
            <a:endParaRPr b="0" i="0" sz="3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3611880" y="315468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Presented by Daniel Korkevados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3" name="Google Shape;413;p17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7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2 · MODELS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Modeling strategy: compare strong baselines to raw-signal deep models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777240" y="1143000"/>
            <a:ext cx="5212080" cy="3977640"/>
          </a:xfrm>
          <a:prstGeom prst="roundRect">
            <a:avLst>
              <a:gd fmla="val 1839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concept_window_to_models.png" id="418" name="Google Shape;4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1613085"/>
            <a:ext cx="5065776" cy="276315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7"/>
          <p:cNvSpPr/>
          <p:nvPr/>
        </p:nvSpPr>
        <p:spPr>
          <a:xfrm>
            <a:off x="941832" y="4818888"/>
            <a:ext cx="48828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2.56 s window, two modeling families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400800" y="1325880"/>
            <a:ext cx="4206240" cy="960120"/>
          </a:xfrm>
          <a:prstGeom prst="roundRect">
            <a:avLst>
              <a:gd fmla="val 7619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6565392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6565392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7059168" y="149961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Classical baseline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7059168" y="18288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561 UCI engineered features → Logistic Regression / SVM / RF.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6400800" y="2606040"/>
            <a:ext cx="4206240" cy="960120"/>
          </a:xfrm>
          <a:prstGeom prst="roundRect">
            <a:avLst>
              <a:gd fmla="val 7619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6565392" y="277063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6565392" y="28072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DL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7059168" y="277977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deep learning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7059168" y="3108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128×9 raw windows → Main Transformer / Patch / CNN / Fourier+Transformer.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6400800" y="3886200"/>
            <a:ext cx="4206240" cy="960120"/>
          </a:xfrm>
          <a:prstGeom prst="roundRect">
            <a:avLst>
              <a:gd fmla="val 7619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6565392" y="405079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6565392" y="40873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7059168" y="405993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Fair conclusion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7059168" y="43891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deployed deep model nearly matches the best engineered-feature baseline.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1143000" y="5623560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Important caveat: engineered features remain slightly ahead in absolute F1, but require manual feature design.</a:t>
            </a:r>
            <a:endParaRPr b="0" i="0" sz="12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2" name="Google Shape;442;p18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18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 checkpoint 2: architecture and readable modules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960120" y="1554480"/>
            <a:ext cx="10287000" cy="3611880"/>
          </a:xfrm>
          <a:prstGeom prst="roundRect">
            <a:avLst>
              <a:gd fmla="val 2025" name="adj"/>
            </a:avLst>
          </a:prstGeom>
          <a:solidFill>
            <a:srgbClr val="0B1F35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1234440" y="1828800"/>
            <a:ext cx="9738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 CHECKPOINT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1508760" y="224028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HAR_HW4_display.ipynb · Section 3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1965960" y="2926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50"/>
              <a:buFont typeface="Quattrocento Sans"/>
              <a:buNone/>
            </a:pPr>
            <a:r>
              <a:rPr b="1" i="0" lang="en-US" sz="145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the FourierTransformer module and helper file structure</a:t>
            </a:r>
            <a:endParaRPr b="0" i="0" sz="14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1828800" y="3547872"/>
            <a:ext cx="8549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code is readable because plotting, data loading and model loading live in separate helper modules.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1828800" y="4251960"/>
            <a:ext cx="8549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7E8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Return to slide 19 after showing the architecture cell briefly.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8" name="Google Shape;458;p19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19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2 · FINAL MODEL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Fourier+Transformer: two branches, one prediction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62" name="Google Shape;462;p19"/>
          <p:cNvCxnSpPr/>
          <p:nvPr/>
        </p:nvCxnSpPr>
        <p:spPr>
          <a:xfrm>
            <a:off x="2657246" y="203454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3" name="Google Shape;463;p19"/>
          <p:cNvCxnSpPr/>
          <p:nvPr/>
        </p:nvCxnSpPr>
        <p:spPr>
          <a:xfrm>
            <a:off x="4884725" y="203454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4" name="Google Shape;464;p19"/>
          <p:cNvCxnSpPr/>
          <p:nvPr/>
        </p:nvCxnSpPr>
        <p:spPr>
          <a:xfrm>
            <a:off x="7112203" y="203454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5" name="Google Shape;465;p19"/>
          <p:cNvCxnSpPr/>
          <p:nvPr/>
        </p:nvCxnSpPr>
        <p:spPr>
          <a:xfrm>
            <a:off x="9339682" y="2034540"/>
            <a:ext cx="164592" cy="0"/>
          </a:xfrm>
          <a:prstGeom prst="straightConnector1">
            <a:avLst/>
          </a:prstGeom>
          <a:noFill/>
          <a:ln cap="flat" cmpd="sng" w="13950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6" name="Google Shape;466;p19"/>
          <p:cNvSpPr/>
          <p:nvPr/>
        </p:nvSpPr>
        <p:spPr>
          <a:xfrm>
            <a:off x="594360" y="1463040"/>
            <a:ext cx="2062886" cy="1143000"/>
          </a:xfrm>
          <a:prstGeom prst="roundRect">
            <a:avLst>
              <a:gd fmla="val 64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704088" y="102412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704088" y="108813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704088" y="1691640"/>
            <a:ext cx="18434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window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704088" y="2029968"/>
            <a:ext cx="18434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128×9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2821838" y="1463040"/>
            <a:ext cx="2062886" cy="1143000"/>
          </a:xfrm>
          <a:prstGeom prst="roundRect">
            <a:avLst>
              <a:gd fmla="val 64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2931566" y="102412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2931566" y="108813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2931566" y="1691640"/>
            <a:ext cx="18434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branch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2931566" y="2029968"/>
            <a:ext cx="18434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 tokens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5049317" y="1463040"/>
            <a:ext cx="2062886" cy="1143000"/>
          </a:xfrm>
          <a:prstGeom prst="roundRect">
            <a:avLst>
              <a:gd fmla="val 64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5159045" y="102412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5159045" y="108813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5159045" y="1691640"/>
            <a:ext cx="18434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FFT branch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5159045" y="2029968"/>
            <a:ext cx="18434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 bins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7276795" y="1463040"/>
            <a:ext cx="2062886" cy="1143000"/>
          </a:xfrm>
          <a:prstGeom prst="roundRect">
            <a:avLst>
              <a:gd fmla="val 6400" name="adj"/>
            </a:avLst>
          </a:prstGeom>
          <a:solidFill>
            <a:srgbClr val="152D26"/>
          </a:solidFill>
          <a:ln cap="flat" cmpd="sng" w="11425">
            <a:solidFill>
              <a:srgbClr val="A3E635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7386523" y="1024128"/>
            <a:ext cx="329184" cy="329184"/>
          </a:xfrm>
          <a:prstGeom prst="ellipse">
            <a:avLst/>
          </a:prstGeom>
          <a:solidFill>
            <a:srgbClr val="A3E635"/>
          </a:solidFill>
          <a:ln cap="flat" cmpd="sng" w="127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7386523" y="108813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7386523" y="1691640"/>
            <a:ext cx="18434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 fusion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7386523" y="2029968"/>
            <a:ext cx="18434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CLS + CLS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9504274" y="1463040"/>
            <a:ext cx="2062886" cy="1143000"/>
          </a:xfrm>
          <a:prstGeom prst="roundRect">
            <a:avLst>
              <a:gd fmla="val 6400" name="adj"/>
            </a:avLst>
          </a:prstGeom>
          <a:solidFill>
            <a:srgbClr val="102B47"/>
          </a:solidFill>
          <a:ln cap="flat" cmpd="sng" w="11425">
            <a:solidFill>
              <a:srgbClr val="22D3E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9614002" y="1024128"/>
            <a:ext cx="329184" cy="329184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9614002" y="1088136"/>
            <a:ext cx="32918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0206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9614002" y="1691640"/>
            <a:ext cx="18434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Classifier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9614002" y="2029968"/>
            <a:ext cx="18434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classes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822960" y="3246120"/>
            <a:ext cx="3200400" cy="1234440"/>
          </a:xfrm>
          <a:prstGeom prst="roundRect">
            <a:avLst>
              <a:gd fmla="val 5926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987552" y="34107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987552" y="3447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1481328" y="3419856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branch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481328" y="37490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Self-attention over the raw temporal sequence learns gait phase and local dynamics.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4498848" y="3246120"/>
            <a:ext cx="3200400" cy="1234440"/>
          </a:xfrm>
          <a:prstGeom prst="roundRect">
            <a:avLst>
              <a:gd fmla="val 5926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4663440" y="34107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4663440" y="3447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5157216" y="3419856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Frequency branch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5157216" y="37490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Self-attention over FFT magnitude bins captures cadence and DC gravity signature.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8183880" y="3246120"/>
            <a:ext cx="3200400" cy="1234440"/>
          </a:xfrm>
          <a:prstGeom prst="roundRect">
            <a:avLst>
              <a:gd fmla="val 5926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8348472" y="34107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8348472" y="3447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8842248" y="3419856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 fusion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8842248" y="37490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two CLS representations are concatenated, then classified into six activities.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1097280" y="5394960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30"/>
              <a:buFont typeface="Quattrocento Sans"/>
              <a:buNone/>
            </a:pPr>
            <a:r>
              <a:rPr b="1" i="0" lang="en-US" sz="133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intuition: time answers “how does it move?”; frequency answers “what rhythms and orientation are present?”</a:t>
            </a:r>
            <a:endParaRPr b="0" i="0" sz="13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3" name="Google Shape;513;p20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20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2 · EVALUATION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is subject-disjoint and macro-F1 driven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749808" y="1325880"/>
            <a:ext cx="3337560" cy="1508760"/>
          </a:xfrm>
          <a:prstGeom prst="roundRect">
            <a:avLst>
              <a:gd fmla="val 4848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914400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914400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1408176" y="149961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Subject-disjoint split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408176" y="18288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windows from a person stay together. Train subjects are not test subjects.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4425696" y="1325880"/>
            <a:ext cx="3337560" cy="1508760"/>
          </a:xfrm>
          <a:prstGeom prst="roundRect">
            <a:avLst>
              <a:gd fmla="val 4848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4590288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0"/>
          <p:cNvSpPr/>
          <p:nvPr/>
        </p:nvSpPr>
        <p:spPr>
          <a:xfrm>
            <a:off x="4590288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5084064" y="149961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Macro-F1 metric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084064" y="18288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activity contributes equally, so minority activities cannot be ignored.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8101584" y="1325880"/>
            <a:ext cx="3337560" cy="1508760"/>
          </a:xfrm>
          <a:prstGeom prst="roundRect">
            <a:avLst>
              <a:gd fmla="val 4848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0"/>
          <p:cNvSpPr/>
          <p:nvPr/>
        </p:nvSpPr>
        <p:spPr>
          <a:xfrm>
            <a:off x="8266176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8266176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8759952" y="1499616"/>
            <a:ext cx="2514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test split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8759952" y="18288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official 9-subject test split is held out for final evaluation.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32" name="Google Shape;532;p20"/>
          <p:cNvCxnSpPr/>
          <p:nvPr/>
        </p:nvCxnSpPr>
        <p:spPr>
          <a:xfrm>
            <a:off x="2423160" y="3703320"/>
            <a:ext cx="7360920" cy="0"/>
          </a:xfrm>
          <a:prstGeom prst="straightConnector1">
            <a:avLst/>
          </a:prstGeom>
          <a:noFill/>
          <a:ln cap="flat" cmpd="sng" w="15225">
            <a:solidFill>
              <a:srgbClr val="22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3" name="Google Shape;533;p20"/>
          <p:cNvSpPr/>
          <p:nvPr/>
        </p:nvSpPr>
        <p:spPr>
          <a:xfrm>
            <a:off x="1143000" y="416052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02B47"/>
          </a:solidFill>
          <a:ln cap="flat" cmpd="sng" w="101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1234440" y="431596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1234440" y="462686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 subjects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4892040" y="416052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02B47"/>
          </a:solidFill>
          <a:ln cap="flat" cmpd="sng" w="101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4983480" y="431596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4983480" y="462686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held-out train subjects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8641080" y="416052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52D26"/>
          </a:solidFill>
          <a:ln cap="flat" cmpd="sng" w="1015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8732520" y="431596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8732520" y="462686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 unseen subjects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1097280" y="5806440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matters: random window splits would overestimate performance because adjacent windows overlap.</a:t>
            </a:r>
            <a:endParaRPr b="0" i="0" sz="12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9" name="Google Shape;549;p21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21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2 · ABLATION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ablation: small, patched and positional wins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731520" y="1170432"/>
            <a:ext cx="3182112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A5 patch-8 + sinusoidal + CLS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4023360" y="1261872"/>
            <a:ext cx="2148840" cy="394498"/>
          </a:xfrm>
          <a:prstGeom prst="roundRect">
            <a:avLst>
              <a:gd fmla="val 6954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4023360" y="1261872"/>
            <a:ext cx="2013033" cy="394498"/>
          </a:xfrm>
          <a:prstGeom prst="roundRect">
            <a:avLst>
              <a:gd fmla="val 6954" name="adj"/>
            </a:avLst>
          </a:prstGeom>
          <a:solidFill>
            <a:srgbClr val="A3E635"/>
          </a:solidFill>
          <a:ln cap="flat" cmpd="sng" w="127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6537960" y="1161288"/>
            <a:ext cx="566928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39"/>
              <a:buFont typeface="Quattrocento Sans"/>
              <a:buNone/>
            </a:pPr>
            <a:r>
              <a:rPr b="1" i="0" lang="en-US" sz="94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0.937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731520" y="1784386"/>
            <a:ext cx="3182112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A3 learnable PE + mean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4023360" y="1875826"/>
            <a:ext cx="2148840" cy="394498"/>
          </a:xfrm>
          <a:prstGeom prst="roundRect">
            <a:avLst>
              <a:gd fmla="val 6954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4023360" y="1875826"/>
            <a:ext cx="1987892" cy="394498"/>
          </a:xfrm>
          <a:prstGeom prst="roundRect">
            <a:avLst>
              <a:gd fmla="val 6954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6537960" y="1775242"/>
            <a:ext cx="566928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0.925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731520" y="2398341"/>
            <a:ext cx="3182112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A7 more heads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4023360" y="2489781"/>
            <a:ext cx="2148840" cy="394498"/>
          </a:xfrm>
          <a:prstGeom prst="roundRect">
            <a:avLst>
              <a:gd fmla="val 6954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1"/>
          <p:cNvSpPr/>
          <p:nvPr/>
        </p:nvSpPr>
        <p:spPr>
          <a:xfrm>
            <a:off x="4023360" y="2489781"/>
            <a:ext cx="1984239" cy="394498"/>
          </a:xfrm>
          <a:prstGeom prst="roundRect">
            <a:avLst>
              <a:gd fmla="val 6954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1"/>
          <p:cNvSpPr/>
          <p:nvPr/>
        </p:nvSpPr>
        <p:spPr>
          <a:xfrm>
            <a:off x="6537960" y="2389197"/>
            <a:ext cx="566928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0.923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731520" y="3012295"/>
            <a:ext cx="3182112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A4 sinusoidal + CLS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4023360" y="3103735"/>
            <a:ext cx="2148840" cy="394498"/>
          </a:xfrm>
          <a:prstGeom prst="roundRect">
            <a:avLst>
              <a:gd fmla="val 6954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1"/>
          <p:cNvSpPr/>
          <p:nvPr/>
        </p:nvSpPr>
        <p:spPr>
          <a:xfrm>
            <a:off x="4023360" y="3103735"/>
            <a:ext cx="1979941" cy="394498"/>
          </a:xfrm>
          <a:prstGeom prst="roundRect">
            <a:avLst>
              <a:gd fmla="val 6954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6537960" y="3003151"/>
            <a:ext cx="566928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0.921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731520" y="3626249"/>
            <a:ext cx="3182112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A6 4 layers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4023360" y="3717689"/>
            <a:ext cx="2148840" cy="394498"/>
          </a:xfrm>
          <a:prstGeom prst="roundRect">
            <a:avLst>
              <a:gd fmla="val 6954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1"/>
          <p:cNvSpPr/>
          <p:nvPr/>
        </p:nvSpPr>
        <p:spPr>
          <a:xfrm>
            <a:off x="4023360" y="3717689"/>
            <a:ext cx="1967908" cy="394498"/>
          </a:xfrm>
          <a:prstGeom prst="roundRect">
            <a:avLst>
              <a:gd fmla="val 6954" name="adj"/>
            </a:avLst>
          </a:prstGeom>
          <a:solidFill>
            <a:srgbClr val="8CA3B8"/>
          </a:solidFill>
          <a:ln cap="flat" cmpd="sng" w="12700">
            <a:solidFill>
              <a:srgbClr val="8C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1"/>
          <p:cNvSpPr/>
          <p:nvPr/>
        </p:nvSpPr>
        <p:spPr>
          <a:xfrm>
            <a:off x="6537960" y="3617105"/>
            <a:ext cx="566928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0.916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731520" y="4240203"/>
            <a:ext cx="3182112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A2 sinusoidal + mean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4023360" y="4331643"/>
            <a:ext cx="2148840" cy="394498"/>
          </a:xfrm>
          <a:prstGeom prst="roundRect">
            <a:avLst>
              <a:gd fmla="val 6954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1"/>
          <p:cNvSpPr/>
          <p:nvPr/>
        </p:nvSpPr>
        <p:spPr>
          <a:xfrm>
            <a:off x="4023360" y="4331643"/>
            <a:ext cx="1962750" cy="394498"/>
          </a:xfrm>
          <a:prstGeom prst="roundRect">
            <a:avLst>
              <a:gd fmla="val 6954" name="adj"/>
            </a:avLst>
          </a:prstGeom>
          <a:solidFill>
            <a:srgbClr val="8CA3B8"/>
          </a:solidFill>
          <a:ln cap="flat" cmpd="sng" w="12700">
            <a:solidFill>
              <a:srgbClr val="8C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1"/>
          <p:cNvSpPr/>
          <p:nvPr/>
        </p:nvSpPr>
        <p:spPr>
          <a:xfrm>
            <a:off x="6537960" y="4231059"/>
            <a:ext cx="566928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0.913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731520" y="4854158"/>
            <a:ext cx="3182112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A1 no PE + mean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4023360" y="4945598"/>
            <a:ext cx="2148840" cy="394498"/>
          </a:xfrm>
          <a:prstGeom prst="roundRect">
            <a:avLst>
              <a:gd fmla="val 6954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1"/>
          <p:cNvSpPr/>
          <p:nvPr/>
        </p:nvSpPr>
        <p:spPr>
          <a:xfrm>
            <a:off x="4023360" y="4945598"/>
            <a:ext cx="1928369" cy="394498"/>
          </a:xfrm>
          <a:prstGeom prst="roundRect">
            <a:avLst>
              <a:gd fmla="val 6954" name="adj"/>
            </a:avLst>
          </a:prstGeom>
          <a:solidFill>
            <a:srgbClr val="5E758D"/>
          </a:solidFill>
          <a:ln cap="flat" cmpd="sng" w="12700">
            <a:solidFill>
              <a:srgbClr val="5E75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1"/>
          <p:cNvSpPr/>
          <p:nvPr/>
        </p:nvSpPr>
        <p:spPr>
          <a:xfrm>
            <a:off x="6537960" y="4845014"/>
            <a:ext cx="566928" cy="595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758D"/>
              </a:buClr>
              <a:buSzPts val="939"/>
              <a:buFont typeface="Quattrocento Sans"/>
              <a:buNone/>
            </a:pPr>
            <a:r>
              <a:rPr b="0" i="0" lang="en-US" sz="940" u="none" cap="none" strike="noStrike">
                <a:solidFill>
                  <a:srgbClr val="5E75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0.897</a:t>
            </a:r>
            <a:endParaRPr b="0" i="0" sz="9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7452360" y="1325880"/>
            <a:ext cx="3520440" cy="1005840"/>
          </a:xfrm>
          <a:prstGeom prst="roundRect">
            <a:avLst>
              <a:gd fmla="val 7273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7616952" y="14904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1"/>
          <p:cNvSpPr/>
          <p:nvPr/>
        </p:nvSpPr>
        <p:spPr>
          <a:xfrm>
            <a:off x="7616952" y="15270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P8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8110728" y="149961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Patching helps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8110728" y="18288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Patch-8 tokens beat per-timestep tokens by aggregating local signal.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7452360" y="2606040"/>
            <a:ext cx="3520440" cy="1005840"/>
          </a:xfrm>
          <a:prstGeom prst="roundRect">
            <a:avLst>
              <a:gd fmla="val 7273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1"/>
          <p:cNvSpPr/>
          <p:nvPr/>
        </p:nvSpPr>
        <p:spPr>
          <a:xfrm>
            <a:off x="7616952" y="277063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1"/>
          <p:cNvSpPr/>
          <p:nvPr/>
        </p:nvSpPr>
        <p:spPr>
          <a:xfrm>
            <a:off x="7616952" y="28072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110728" y="277977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 matters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8110728" y="31089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Removing positional encoding is the weakest configuration.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7452360" y="3886200"/>
            <a:ext cx="3520440" cy="1005840"/>
          </a:xfrm>
          <a:prstGeom prst="roundRect">
            <a:avLst>
              <a:gd fmla="val 7273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7616952" y="405079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1"/>
          <p:cNvSpPr/>
          <p:nvPr/>
        </p:nvSpPr>
        <p:spPr>
          <a:xfrm>
            <a:off x="7616952" y="40873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2L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8110728" y="4059936"/>
            <a:ext cx="2697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Bigger is not better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8110728" y="43891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 layers underperform two layers on this small dataset.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1325880" y="580644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20"/>
              <a:buFont typeface="Quattrocento Sans"/>
              <a:buNone/>
            </a:pPr>
            <a:r>
              <a:rPr b="1" i="0" lang="en-US" sz="132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validation config: A5 patch-8 + sinusoidal PE + CLS pooling</a:t>
            </a:r>
            <a:endParaRPr b="0" i="0" sz="13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3" name="Google Shape;603;p22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22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2 · ABLATION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ablation: acceleration carries the signal, all sensors win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822960" y="1353312"/>
            <a:ext cx="27249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9 sensors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3657600" y="1444752"/>
            <a:ext cx="2697480" cy="438912"/>
          </a:xfrm>
          <a:prstGeom prst="roundRect">
            <a:avLst>
              <a:gd fmla="val 6250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2"/>
          <p:cNvSpPr/>
          <p:nvPr/>
        </p:nvSpPr>
        <p:spPr>
          <a:xfrm>
            <a:off x="3657600" y="1444752"/>
            <a:ext cx="2500138" cy="438912"/>
          </a:xfrm>
          <a:prstGeom prst="roundRect">
            <a:avLst>
              <a:gd fmla="val 6250" name="adj"/>
            </a:avLst>
          </a:prstGeom>
          <a:solidFill>
            <a:srgbClr val="A3E635"/>
          </a:solidFill>
          <a:ln cap="flat" cmpd="sng" w="127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/>
          <p:cNvSpPr/>
          <p:nvPr/>
        </p:nvSpPr>
        <p:spPr>
          <a:xfrm>
            <a:off x="6720840" y="1344168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0.881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822960" y="2011680"/>
            <a:ext cx="27249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Acceleration only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3657600" y="2103120"/>
            <a:ext cx="2697480" cy="438912"/>
          </a:xfrm>
          <a:prstGeom prst="roundRect">
            <a:avLst>
              <a:gd fmla="val 6250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2"/>
          <p:cNvSpPr/>
          <p:nvPr/>
        </p:nvSpPr>
        <p:spPr>
          <a:xfrm>
            <a:off x="3657600" y="2103120"/>
            <a:ext cx="2372363" cy="438912"/>
          </a:xfrm>
          <a:prstGeom prst="roundRect">
            <a:avLst>
              <a:gd fmla="val 6250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2"/>
          <p:cNvSpPr/>
          <p:nvPr/>
        </p:nvSpPr>
        <p:spPr>
          <a:xfrm>
            <a:off x="6720840" y="2002536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0.836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822960" y="2670048"/>
            <a:ext cx="27249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acceleration only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3657600" y="2761488"/>
            <a:ext cx="2697480" cy="438912"/>
          </a:xfrm>
          <a:prstGeom prst="roundRect">
            <a:avLst>
              <a:gd fmla="val 6250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2"/>
          <p:cNvSpPr/>
          <p:nvPr/>
        </p:nvSpPr>
        <p:spPr>
          <a:xfrm>
            <a:off x="3657600" y="2761488"/>
            <a:ext cx="2240328" cy="438912"/>
          </a:xfrm>
          <a:prstGeom prst="roundRect">
            <a:avLst>
              <a:gd fmla="val 6250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2"/>
          <p:cNvSpPr/>
          <p:nvPr/>
        </p:nvSpPr>
        <p:spPr>
          <a:xfrm>
            <a:off x="6720840" y="2660904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0.789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822960" y="3328416"/>
            <a:ext cx="27249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Body acceleration only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3657600" y="3419856"/>
            <a:ext cx="2697480" cy="438912"/>
          </a:xfrm>
          <a:prstGeom prst="roundRect">
            <a:avLst>
              <a:gd fmla="val 6250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2"/>
          <p:cNvSpPr/>
          <p:nvPr/>
        </p:nvSpPr>
        <p:spPr>
          <a:xfrm>
            <a:off x="3657600" y="3419856"/>
            <a:ext cx="1504910" cy="438912"/>
          </a:xfrm>
          <a:prstGeom prst="roundRect">
            <a:avLst>
              <a:gd fmla="val 6250" name="adj"/>
            </a:avLst>
          </a:prstGeom>
          <a:solidFill>
            <a:srgbClr val="8CA3B8"/>
          </a:solidFill>
          <a:ln cap="flat" cmpd="sng" w="12700">
            <a:solidFill>
              <a:srgbClr val="8C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2"/>
          <p:cNvSpPr/>
          <p:nvPr/>
        </p:nvSpPr>
        <p:spPr>
          <a:xfrm>
            <a:off x="6720840" y="3319272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0.530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822960" y="3986784"/>
            <a:ext cx="27249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Gyroscope only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3657600" y="4078224"/>
            <a:ext cx="2697480" cy="438912"/>
          </a:xfrm>
          <a:prstGeom prst="roundRect">
            <a:avLst>
              <a:gd fmla="val 6250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/>
          <p:cNvSpPr/>
          <p:nvPr/>
        </p:nvSpPr>
        <p:spPr>
          <a:xfrm>
            <a:off x="3657600" y="4078224"/>
            <a:ext cx="1374295" cy="438912"/>
          </a:xfrm>
          <a:prstGeom prst="roundRect">
            <a:avLst>
              <a:gd fmla="val 6250" name="adj"/>
            </a:avLst>
          </a:prstGeom>
          <a:solidFill>
            <a:srgbClr val="5E758D"/>
          </a:solidFill>
          <a:ln cap="flat" cmpd="sng" w="12700">
            <a:solidFill>
              <a:srgbClr val="5E75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"/>
          <p:cNvSpPr/>
          <p:nvPr/>
        </p:nvSpPr>
        <p:spPr>
          <a:xfrm>
            <a:off x="6720840" y="3977640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758D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5E75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0.484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7635240" y="1143000"/>
            <a:ext cx="3383280" cy="2743200"/>
          </a:xfrm>
          <a:prstGeom prst="roundRect">
            <a:avLst>
              <a:gd fmla="val 2667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blation_sensors.png" id="628" name="Google Shape;6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392" y="1837944"/>
            <a:ext cx="3236976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2"/>
          <p:cNvSpPr/>
          <p:nvPr/>
        </p:nvSpPr>
        <p:spPr>
          <a:xfrm>
            <a:off x="7799832" y="3584448"/>
            <a:ext cx="30540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Original notebook figure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868680" y="4983480"/>
            <a:ext cx="3108960" cy="914400"/>
          </a:xfrm>
          <a:prstGeom prst="roundRect">
            <a:avLst>
              <a:gd fmla="val 80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"/>
          <p:cNvSpPr/>
          <p:nvPr/>
        </p:nvSpPr>
        <p:spPr>
          <a:xfrm>
            <a:off x="1033272" y="51480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2"/>
          <p:cNvSpPr/>
          <p:nvPr/>
        </p:nvSpPr>
        <p:spPr>
          <a:xfrm>
            <a:off x="1033272" y="51846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1527048" y="5157216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acceleration core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1527048" y="5486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Contains both movement and gravity orientation.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4526280" y="4983480"/>
            <a:ext cx="3108960" cy="914400"/>
          </a:xfrm>
          <a:prstGeom prst="roundRect">
            <a:avLst>
              <a:gd fmla="val 80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/>
          <p:nvPr/>
        </p:nvSpPr>
        <p:spPr>
          <a:xfrm>
            <a:off x="4690872" y="51480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2"/>
          <p:cNvSpPr/>
          <p:nvPr/>
        </p:nvSpPr>
        <p:spPr>
          <a:xfrm>
            <a:off x="4690872" y="51846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5184648" y="5157216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Gyro alone weak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5184648" y="5486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Near-chance F1, but complementary in all-sensor model.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8183880" y="4983480"/>
            <a:ext cx="3108960" cy="914400"/>
          </a:xfrm>
          <a:prstGeom prst="roundRect">
            <a:avLst>
              <a:gd fmla="val 80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/>
          <p:cNvSpPr/>
          <p:nvPr/>
        </p:nvSpPr>
        <p:spPr>
          <a:xfrm>
            <a:off x="8348472" y="51480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2"/>
          <p:cNvSpPr/>
          <p:nvPr/>
        </p:nvSpPr>
        <p:spPr>
          <a:xfrm>
            <a:off x="8348472" y="51846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8842248" y="5157216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 all 9 channels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8842248" y="5486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service requires accel + gyro stream.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1" name="Google Shape;651;p23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23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 checkpoint 3: results, reports and confusion matrix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960120" y="1554480"/>
            <a:ext cx="10287000" cy="3611880"/>
          </a:xfrm>
          <a:prstGeom prst="roundRect">
            <a:avLst>
              <a:gd fmla="val 2025" name="adj"/>
            </a:avLst>
          </a:prstGeom>
          <a:solidFill>
            <a:srgbClr val="0B1F35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3"/>
          <p:cNvSpPr/>
          <p:nvPr/>
        </p:nvSpPr>
        <p:spPr>
          <a:xfrm>
            <a:off x="1234440" y="1828800"/>
            <a:ext cx="9738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 CHECKPOINT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1508760" y="224028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HAR_HW4_display.ipynb · Results section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8" name="Google Shape;658;p23"/>
          <p:cNvSpPr/>
          <p:nvPr/>
        </p:nvSpPr>
        <p:spPr>
          <a:xfrm>
            <a:off x="1965960" y="2926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50"/>
              <a:buFont typeface="Quattrocento Sans"/>
              <a:buNone/>
            </a:pPr>
            <a:r>
              <a:rPr b="1" i="0" lang="en-US" sz="145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model comparison, test report and confusion matrix outputs</a:t>
            </a:r>
            <a:endParaRPr b="0" i="0" sz="14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1828800" y="3547872"/>
            <a:ext cx="8549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audience sees the exact executed metrics, not a hand-copied result table only.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1828800" y="4251960"/>
            <a:ext cx="8549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7E8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Return to slide 24 after the classification report.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7" name="Google Shape;667;p24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8" name="Google Shape;668;p24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 · RESULTS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9" name="Google Shape;669;p24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Results: Fourier+Transformer is the best deployed raw-signal model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731520" y="1078992"/>
            <a:ext cx="2862072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Fourier+Transformer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3703320" y="1170432"/>
            <a:ext cx="3108960" cy="414093"/>
          </a:xfrm>
          <a:prstGeom prst="roundRect">
            <a:avLst>
              <a:gd fmla="val 6625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4"/>
          <p:cNvSpPr/>
          <p:nvPr/>
        </p:nvSpPr>
        <p:spPr>
          <a:xfrm>
            <a:off x="3703320" y="1170432"/>
            <a:ext cx="2946361" cy="414093"/>
          </a:xfrm>
          <a:prstGeom prst="roundRect">
            <a:avLst>
              <a:gd fmla="val 6625" name="adj"/>
            </a:avLst>
          </a:prstGeom>
          <a:solidFill>
            <a:srgbClr val="A3E635"/>
          </a:solidFill>
          <a:ln cap="flat" cmpd="sng" w="127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4"/>
          <p:cNvSpPr/>
          <p:nvPr/>
        </p:nvSpPr>
        <p:spPr>
          <a:xfrm>
            <a:off x="7178040" y="1069848"/>
            <a:ext cx="566928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80"/>
              <a:buFont typeface="Quattrocento Sans"/>
              <a:buNone/>
            </a:pPr>
            <a:r>
              <a:rPr b="1" i="0" lang="en-US" sz="98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0.948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5" name="Google Shape;675;p24"/>
          <p:cNvSpPr/>
          <p:nvPr/>
        </p:nvSpPr>
        <p:spPr>
          <a:xfrm>
            <a:off x="731520" y="1712541"/>
            <a:ext cx="2862072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LogReg · 561 features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3703320" y="1803981"/>
            <a:ext cx="3108960" cy="414093"/>
          </a:xfrm>
          <a:prstGeom prst="roundRect">
            <a:avLst>
              <a:gd fmla="val 6625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4"/>
          <p:cNvSpPr/>
          <p:nvPr/>
        </p:nvSpPr>
        <p:spPr>
          <a:xfrm>
            <a:off x="3703320" y="1803981"/>
            <a:ext cx="2970922" cy="414093"/>
          </a:xfrm>
          <a:prstGeom prst="roundRect">
            <a:avLst>
              <a:gd fmla="val 6625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4"/>
          <p:cNvSpPr/>
          <p:nvPr/>
        </p:nvSpPr>
        <p:spPr>
          <a:xfrm>
            <a:off x="7178040" y="1703397"/>
            <a:ext cx="566928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0.956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731520" y="2346089"/>
            <a:ext cx="2862072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Patch Transformer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0" name="Google Shape;680;p24"/>
          <p:cNvSpPr/>
          <p:nvPr/>
        </p:nvSpPr>
        <p:spPr>
          <a:xfrm>
            <a:off x="3703320" y="2437529"/>
            <a:ext cx="3108960" cy="414093"/>
          </a:xfrm>
          <a:prstGeom prst="roundRect">
            <a:avLst>
              <a:gd fmla="val 6625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4"/>
          <p:cNvSpPr/>
          <p:nvPr/>
        </p:nvSpPr>
        <p:spPr>
          <a:xfrm>
            <a:off x="3703320" y="2437529"/>
            <a:ext cx="2796199" cy="414093"/>
          </a:xfrm>
          <a:prstGeom prst="roundRect">
            <a:avLst>
              <a:gd fmla="val 6625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4"/>
          <p:cNvSpPr/>
          <p:nvPr/>
        </p:nvSpPr>
        <p:spPr>
          <a:xfrm>
            <a:off x="7178040" y="2336945"/>
            <a:ext cx="566928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0.899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3" name="Google Shape;683;p24"/>
          <p:cNvSpPr/>
          <p:nvPr/>
        </p:nvSpPr>
        <p:spPr>
          <a:xfrm>
            <a:off x="731520" y="2979638"/>
            <a:ext cx="2862072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CNN-Transformer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3703320" y="3071078"/>
            <a:ext cx="3108960" cy="414093"/>
          </a:xfrm>
          <a:prstGeom prst="roundRect">
            <a:avLst>
              <a:gd fmla="val 6625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4"/>
          <p:cNvSpPr/>
          <p:nvPr/>
        </p:nvSpPr>
        <p:spPr>
          <a:xfrm>
            <a:off x="3703320" y="3071078"/>
            <a:ext cx="2785317" cy="414093"/>
          </a:xfrm>
          <a:prstGeom prst="roundRect">
            <a:avLst>
              <a:gd fmla="val 6625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4"/>
          <p:cNvSpPr/>
          <p:nvPr/>
        </p:nvSpPr>
        <p:spPr>
          <a:xfrm>
            <a:off x="7178040" y="2970494"/>
            <a:ext cx="566928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0.896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731520" y="3613186"/>
            <a:ext cx="2862072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 Transformer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8" name="Google Shape;688;p24"/>
          <p:cNvSpPr/>
          <p:nvPr/>
        </p:nvSpPr>
        <p:spPr>
          <a:xfrm>
            <a:off x="3703320" y="3704626"/>
            <a:ext cx="3108960" cy="414093"/>
          </a:xfrm>
          <a:prstGeom prst="roundRect">
            <a:avLst>
              <a:gd fmla="val 6625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4"/>
          <p:cNvSpPr/>
          <p:nvPr/>
        </p:nvSpPr>
        <p:spPr>
          <a:xfrm>
            <a:off x="3703320" y="3704626"/>
            <a:ext cx="2741170" cy="414093"/>
          </a:xfrm>
          <a:prstGeom prst="roundRect">
            <a:avLst>
              <a:gd fmla="val 6625" name="adj"/>
            </a:avLst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4"/>
          <p:cNvSpPr/>
          <p:nvPr/>
        </p:nvSpPr>
        <p:spPr>
          <a:xfrm>
            <a:off x="7178040" y="3604042"/>
            <a:ext cx="566928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0.882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1" name="Google Shape;691;p24"/>
          <p:cNvSpPr/>
          <p:nvPr/>
        </p:nvSpPr>
        <p:spPr>
          <a:xfrm>
            <a:off x="731520" y="4246735"/>
            <a:ext cx="2862072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LogReg · 6 features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2" name="Google Shape;692;p24"/>
          <p:cNvSpPr/>
          <p:nvPr/>
        </p:nvSpPr>
        <p:spPr>
          <a:xfrm>
            <a:off x="3703320" y="4338175"/>
            <a:ext cx="3108960" cy="414093"/>
          </a:xfrm>
          <a:prstGeom prst="roundRect">
            <a:avLst>
              <a:gd fmla="val 6625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4"/>
          <p:cNvSpPr/>
          <p:nvPr/>
        </p:nvSpPr>
        <p:spPr>
          <a:xfrm>
            <a:off x="3703320" y="4338175"/>
            <a:ext cx="2440844" cy="414093"/>
          </a:xfrm>
          <a:prstGeom prst="roundRect">
            <a:avLst>
              <a:gd fmla="val 6625" name="adj"/>
            </a:avLst>
          </a:prstGeom>
          <a:solidFill>
            <a:srgbClr val="8CA3B8"/>
          </a:solidFill>
          <a:ln cap="flat" cmpd="sng" w="12700">
            <a:solidFill>
              <a:srgbClr val="8C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4"/>
          <p:cNvSpPr/>
          <p:nvPr/>
        </p:nvSpPr>
        <p:spPr>
          <a:xfrm>
            <a:off x="7178040" y="4237591"/>
            <a:ext cx="566928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0.785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5" name="Google Shape;695;p24"/>
          <p:cNvSpPr/>
          <p:nvPr/>
        </p:nvSpPr>
        <p:spPr>
          <a:xfrm>
            <a:off x="731520" y="4880283"/>
            <a:ext cx="2862072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Gyroscope only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3703320" y="4971723"/>
            <a:ext cx="3108960" cy="414093"/>
          </a:xfrm>
          <a:prstGeom prst="roundRect">
            <a:avLst>
              <a:gd fmla="val 6625" name="adj"/>
            </a:avLst>
          </a:prstGeom>
          <a:solidFill>
            <a:srgbClr val="092033"/>
          </a:solidFill>
          <a:ln cap="flat" cmpd="sng" w="12700">
            <a:solidFill>
              <a:srgbClr val="09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3703320" y="4971723"/>
            <a:ext cx="1504737" cy="414093"/>
          </a:xfrm>
          <a:prstGeom prst="roundRect">
            <a:avLst>
              <a:gd fmla="val 6625" name="adj"/>
            </a:avLst>
          </a:prstGeom>
          <a:solidFill>
            <a:srgbClr val="5E758D"/>
          </a:solidFill>
          <a:ln cap="flat" cmpd="sng" w="12700">
            <a:solidFill>
              <a:srgbClr val="5E75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4"/>
          <p:cNvSpPr/>
          <p:nvPr/>
        </p:nvSpPr>
        <p:spPr>
          <a:xfrm>
            <a:off x="7178040" y="4871139"/>
            <a:ext cx="566928" cy="615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758D"/>
              </a:buClr>
              <a:buSzPts val="980"/>
              <a:buFont typeface="Quattrocento Sans"/>
              <a:buNone/>
            </a:pPr>
            <a:r>
              <a:rPr b="0" i="0" lang="en-US" sz="980" u="none" cap="none" strike="noStrike">
                <a:solidFill>
                  <a:srgbClr val="5E75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0.484</a:t>
            </a:r>
            <a:endParaRPr b="0" i="0" sz="9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9" name="Google Shape;699;p24"/>
          <p:cNvSpPr/>
          <p:nvPr/>
        </p:nvSpPr>
        <p:spPr>
          <a:xfrm>
            <a:off x="8229600" y="1234440"/>
            <a:ext cx="301752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4"/>
          <p:cNvSpPr/>
          <p:nvPr/>
        </p:nvSpPr>
        <p:spPr>
          <a:xfrm>
            <a:off x="8394192" y="139903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4"/>
          <p:cNvSpPr/>
          <p:nvPr/>
        </p:nvSpPr>
        <p:spPr>
          <a:xfrm>
            <a:off x="8394192" y="14356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★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2" name="Google Shape;702;p24"/>
          <p:cNvSpPr/>
          <p:nvPr/>
        </p:nvSpPr>
        <p:spPr>
          <a:xfrm>
            <a:off x="8887968" y="1408176"/>
            <a:ext cx="2194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deployed model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3" name="Google Shape;703;p24"/>
          <p:cNvSpPr/>
          <p:nvPr/>
        </p:nvSpPr>
        <p:spPr>
          <a:xfrm>
            <a:off x="8887968" y="17373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Fourier+Transformer with augmentation reaches 94.8% accuracy / 94.77% macro-F1.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8229600" y="2651760"/>
            <a:ext cx="301752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4"/>
          <p:cNvSpPr/>
          <p:nvPr/>
        </p:nvSpPr>
        <p:spPr>
          <a:xfrm>
            <a:off x="8394192" y="281635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4"/>
          <p:cNvSpPr/>
          <p:nvPr/>
        </p:nvSpPr>
        <p:spPr>
          <a:xfrm>
            <a:off x="8394192" y="28529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7" name="Google Shape;707;p24"/>
          <p:cNvSpPr/>
          <p:nvPr/>
        </p:nvSpPr>
        <p:spPr>
          <a:xfrm>
            <a:off x="8887968" y="2825496"/>
            <a:ext cx="2194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Honest caveat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8" name="Google Shape;708;p24"/>
          <p:cNvSpPr/>
          <p:nvPr/>
        </p:nvSpPr>
        <p:spPr>
          <a:xfrm>
            <a:off x="8887968" y="315468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LogReg with 561 engineered features is still slightly higher at ~95.6% F1.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9" name="Google Shape;709;p24"/>
          <p:cNvSpPr/>
          <p:nvPr/>
        </p:nvSpPr>
        <p:spPr>
          <a:xfrm>
            <a:off x="8229600" y="4069080"/>
            <a:ext cx="3017520" cy="1143000"/>
          </a:xfrm>
          <a:prstGeom prst="roundRect">
            <a:avLst>
              <a:gd fmla="val 64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4"/>
          <p:cNvSpPr/>
          <p:nvPr/>
        </p:nvSpPr>
        <p:spPr>
          <a:xfrm>
            <a:off x="8394192" y="423367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4"/>
          <p:cNvSpPr/>
          <p:nvPr/>
        </p:nvSpPr>
        <p:spPr>
          <a:xfrm>
            <a:off x="8394192" y="427024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2" name="Google Shape;712;p24"/>
          <p:cNvSpPr/>
          <p:nvPr/>
        </p:nvSpPr>
        <p:spPr>
          <a:xfrm>
            <a:off x="8887968" y="4242816"/>
            <a:ext cx="2194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matters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8887968" y="45720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deep model learns from raw sensors and is easier to adapt/deploy end-to-end.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914400" y="5897880"/>
            <a:ext cx="10058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230"/>
              <a:buFont typeface="Quattrocento Sans"/>
              <a:buNone/>
            </a:pPr>
            <a:r>
              <a:rPr b="1" i="0" lang="en-US" sz="123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Takeaway: classical baselines are strong; the deep model closes the gap without manual feature engineering.</a:t>
            </a:r>
            <a:endParaRPr b="0" i="0" sz="12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1" name="Google Shape;721;p25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25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 · RESULTS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3" name="Google Shape;723;p25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Error analysis: dynamic vs static separation is essentially perfect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4" name="Google Shape;724;p25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5" name="Google Shape;725;p25"/>
          <p:cNvSpPr/>
          <p:nvPr/>
        </p:nvSpPr>
        <p:spPr>
          <a:xfrm>
            <a:off x="777240" y="1508760"/>
            <a:ext cx="1869034" cy="658368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813816" y="1581912"/>
            <a:ext cx="179588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20"/>
              <a:buFont typeface="Quattrocento Sans"/>
              <a:buNone/>
            </a:pPr>
            <a:r>
              <a:rPr b="1" i="0" lang="en-US" sz="92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/ Pred</a:t>
            </a:r>
            <a:endParaRPr b="0" i="0" sz="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7" name="Google Shape;727;p25"/>
          <p:cNvSpPr/>
          <p:nvPr/>
        </p:nvSpPr>
        <p:spPr>
          <a:xfrm>
            <a:off x="2646274" y="1508760"/>
            <a:ext cx="1602029" cy="658368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2682850" y="1581912"/>
            <a:ext cx="152887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20"/>
              <a:buFont typeface="Quattrocento Sans"/>
              <a:buNone/>
            </a:pPr>
            <a:r>
              <a:rPr b="1" i="0" lang="en-US" sz="92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Walking group</a:t>
            </a:r>
            <a:endParaRPr b="0" i="0" sz="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9" name="Google Shape;729;p25"/>
          <p:cNvSpPr/>
          <p:nvPr/>
        </p:nvSpPr>
        <p:spPr>
          <a:xfrm>
            <a:off x="4248302" y="1508760"/>
            <a:ext cx="1068019" cy="658368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5"/>
          <p:cNvSpPr/>
          <p:nvPr/>
        </p:nvSpPr>
        <p:spPr>
          <a:xfrm>
            <a:off x="4284878" y="1581912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20"/>
              <a:buFont typeface="Quattrocento Sans"/>
              <a:buNone/>
            </a:pPr>
            <a:r>
              <a:rPr b="1" i="0" lang="en-US" sz="92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Sitting</a:t>
            </a:r>
            <a:endParaRPr b="0" i="0" sz="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1" name="Google Shape;731;p25"/>
          <p:cNvSpPr/>
          <p:nvPr/>
        </p:nvSpPr>
        <p:spPr>
          <a:xfrm>
            <a:off x="5316322" y="1508760"/>
            <a:ext cx="1068019" cy="658368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5"/>
          <p:cNvSpPr/>
          <p:nvPr/>
        </p:nvSpPr>
        <p:spPr>
          <a:xfrm>
            <a:off x="5352898" y="1581912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20"/>
              <a:buFont typeface="Quattrocento Sans"/>
              <a:buNone/>
            </a:pPr>
            <a:r>
              <a:rPr b="1" i="0" lang="en-US" sz="92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Standing</a:t>
            </a:r>
            <a:endParaRPr b="0" i="0" sz="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3" name="Google Shape;733;p25"/>
          <p:cNvSpPr/>
          <p:nvPr/>
        </p:nvSpPr>
        <p:spPr>
          <a:xfrm>
            <a:off x="6384341" y="1508760"/>
            <a:ext cx="1068019" cy="658368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5"/>
          <p:cNvSpPr/>
          <p:nvPr/>
        </p:nvSpPr>
        <p:spPr>
          <a:xfrm>
            <a:off x="6420917" y="1581912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20"/>
              <a:buFont typeface="Quattrocento Sans"/>
              <a:buNone/>
            </a:pPr>
            <a:r>
              <a:rPr b="1" i="0" lang="en-US" sz="92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Laying</a:t>
            </a:r>
            <a:endParaRPr b="0" i="0" sz="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5" name="Google Shape;735;p25"/>
          <p:cNvSpPr/>
          <p:nvPr/>
        </p:nvSpPr>
        <p:spPr>
          <a:xfrm>
            <a:off x="777240" y="2167128"/>
            <a:ext cx="1869034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5"/>
          <p:cNvSpPr/>
          <p:nvPr/>
        </p:nvSpPr>
        <p:spPr>
          <a:xfrm>
            <a:off x="813816" y="2240280"/>
            <a:ext cx="179588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Walking group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2646274" y="2167128"/>
            <a:ext cx="160202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5"/>
          <p:cNvSpPr/>
          <p:nvPr/>
        </p:nvSpPr>
        <p:spPr>
          <a:xfrm>
            <a:off x="2682850" y="2240280"/>
            <a:ext cx="152887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1303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4248302" y="2167128"/>
            <a:ext cx="106801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5"/>
          <p:cNvSpPr/>
          <p:nvPr/>
        </p:nvSpPr>
        <p:spPr>
          <a:xfrm>
            <a:off x="4284878" y="2240280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5316322" y="2167128"/>
            <a:ext cx="106801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5"/>
          <p:cNvSpPr/>
          <p:nvPr/>
        </p:nvSpPr>
        <p:spPr>
          <a:xfrm>
            <a:off x="5352898" y="2240280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6384341" y="2167128"/>
            <a:ext cx="106801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5"/>
          <p:cNvSpPr/>
          <p:nvPr/>
        </p:nvSpPr>
        <p:spPr>
          <a:xfrm>
            <a:off x="6420917" y="2240280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777240" y="2825496"/>
            <a:ext cx="1869034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5"/>
          <p:cNvSpPr/>
          <p:nvPr/>
        </p:nvSpPr>
        <p:spPr>
          <a:xfrm>
            <a:off x="813816" y="2898648"/>
            <a:ext cx="179588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Sitting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2646274" y="2825496"/>
            <a:ext cx="160202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5"/>
          <p:cNvSpPr/>
          <p:nvPr/>
        </p:nvSpPr>
        <p:spPr>
          <a:xfrm>
            <a:off x="2682850" y="2898648"/>
            <a:ext cx="152887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4248302" y="2825496"/>
            <a:ext cx="106801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"/>
          <p:cNvSpPr/>
          <p:nvPr/>
        </p:nvSpPr>
        <p:spPr>
          <a:xfrm>
            <a:off x="4284878" y="2898648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456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5316322" y="2825496"/>
            <a:ext cx="106801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5"/>
          <p:cNvSpPr/>
          <p:nvPr/>
        </p:nvSpPr>
        <p:spPr>
          <a:xfrm>
            <a:off x="5352898" y="2898648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6384341" y="2825496"/>
            <a:ext cx="106801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5"/>
          <p:cNvSpPr/>
          <p:nvPr/>
        </p:nvSpPr>
        <p:spPr>
          <a:xfrm>
            <a:off x="6420917" y="2898648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777240" y="3483864"/>
            <a:ext cx="1869034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5"/>
          <p:cNvSpPr/>
          <p:nvPr/>
        </p:nvSpPr>
        <p:spPr>
          <a:xfrm>
            <a:off x="813816" y="3557016"/>
            <a:ext cx="179588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Standing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2646274" y="3483864"/>
            <a:ext cx="160202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5"/>
          <p:cNvSpPr/>
          <p:nvPr/>
        </p:nvSpPr>
        <p:spPr>
          <a:xfrm>
            <a:off x="2682850" y="3557016"/>
            <a:ext cx="152887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4248302" y="3483864"/>
            <a:ext cx="106801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5"/>
          <p:cNvSpPr/>
          <p:nvPr/>
        </p:nvSpPr>
        <p:spPr>
          <a:xfrm>
            <a:off x="4284878" y="3557016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1" name="Google Shape;761;p25"/>
          <p:cNvSpPr/>
          <p:nvPr/>
        </p:nvSpPr>
        <p:spPr>
          <a:xfrm>
            <a:off x="5316322" y="3483864"/>
            <a:ext cx="106801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5"/>
          <p:cNvSpPr/>
          <p:nvPr/>
        </p:nvSpPr>
        <p:spPr>
          <a:xfrm>
            <a:off x="5352898" y="3557016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509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3" name="Google Shape;763;p25"/>
          <p:cNvSpPr/>
          <p:nvPr/>
        </p:nvSpPr>
        <p:spPr>
          <a:xfrm>
            <a:off x="6384341" y="3483864"/>
            <a:ext cx="1068019" cy="658368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5"/>
          <p:cNvSpPr/>
          <p:nvPr/>
        </p:nvSpPr>
        <p:spPr>
          <a:xfrm>
            <a:off x="6420917" y="3557016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5" name="Google Shape;765;p25"/>
          <p:cNvSpPr/>
          <p:nvPr/>
        </p:nvSpPr>
        <p:spPr>
          <a:xfrm>
            <a:off x="777240" y="4142232"/>
            <a:ext cx="1869034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5"/>
          <p:cNvSpPr/>
          <p:nvPr/>
        </p:nvSpPr>
        <p:spPr>
          <a:xfrm>
            <a:off x="813816" y="4215384"/>
            <a:ext cx="179588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Laying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7" name="Google Shape;767;p25"/>
          <p:cNvSpPr/>
          <p:nvPr/>
        </p:nvSpPr>
        <p:spPr>
          <a:xfrm>
            <a:off x="2646274" y="4142232"/>
            <a:ext cx="160202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5"/>
          <p:cNvSpPr/>
          <p:nvPr/>
        </p:nvSpPr>
        <p:spPr>
          <a:xfrm>
            <a:off x="2682850" y="4215384"/>
            <a:ext cx="152887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9" name="Google Shape;769;p25"/>
          <p:cNvSpPr/>
          <p:nvPr/>
        </p:nvSpPr>
        <p:spPr>
          <a:xfrm>
            <a:off x="4248302" y="4142232"/>
            <a:ext cx="106801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5"/>
          <p:cNvSpPr/>
          <p:nvPr/>
        </p:nvSpPr>
        <p:spPr>
          <a:xfrm>
            <a:off x="4284878" y="4215384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1" name="Google Shape;771;p25"/>
          <p:cNvSpPr/>
          <p:nvPr/>
        </p:nvSpPr>
        <p:spPr>
          <a:xfrm>
            <a:off x="5316322" y="4142232"/>
            <a:ext cx="106801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5"/>
          <p:cNvSpPr/>
          <p:nvPr/>
        </p:nvSpPr>
        <p:spPr>
          <a:xfrm>
            <a:off x="5352898" y="4215384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3" name="Google Shape;773;p25"/>
          <p:cNvSpPr/>
          <p:nvPr/>
        </p:nvSpPr>
        <p:spPr>
          <a:xfrm>
            <a:off x="6384341" y="4142232"/>
            <a:ext cx="1068019" cy="658368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5"/>
          <p:cNvSpPr/>
          <p:nvPr/>
        </p:nvSpPr>
        <p:spPr>
          <a:xfrm>
            <a:off x="6420917" y="4215384"/>
            <a:ext cx="994867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535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5" name="Google Shape;775;p25"/>
          <p:cNvSpPr/>
          <p:nvPr/>
        </p:nvSpPr>
        <p:spPr>
          <a:xfrm>
            <a:off x="7909560" y="1508760"/>
            <a:ext cx="3246120" cy="1097280"/>
          </a:xfrm>
          <a:prstGeom prst="roundRect">
            <a:avLst>
              <a:gd fmla="val 666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5"/>
          <p:cNvSpPr/>
          <p:nvPr/>
        </p:nvSpPr>
        <p:spPr>
          <a:xfrm>
            <a:off x="8074152" y="167335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5"/>
          <p:cNvSpPr/>
          <p:nvPr/>
        </p:nvSpPr>
        <p:spPr>
          <a:xfrm>
            <a:off x="8074152" y="17099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8" name="Google Shape;778;p25"/>
          <p:cNvSpPr/>
          <p:nvPr/>
        </p:nvSpPr>
        <p:spPr>
          <a:xfrm>
            <a:off x="8567928" y="168249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 block confusion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9" name="Google Shape;779;p25"/>
          <p:cNvSpPr/>
          <p:nvPr/>
        </p:nvSpPr>
        <p:spPr>
          <a:xfrm>
            <a:off x="8567928" y="20116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Walking variants are not confused with static postures.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0" name="Google Shape;780;p25"/>
          <p:cNvSpPr/>
          <p:nvPr/>
        </p:nvSpPr>
        <p:spPr>
          <a:xfrm>
            <a:off x="7909560" y="2880360"/>
            <a:ext cx="3246120" cy="1097280"/>
          </a:xfrm>
          <a:prstGeom prst="roundRect">
            <a:avLst>
              <a:gd fmla="val 666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5"/>
          <p:cNvSpPr/>
          <p:nvPr/>
        </p:nvSpPr>
        <p:spPr>
          <a:xfrm>
            <a:off x="8074152" y="304495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5"/>
          <p:cNvSpPr/>
          <p:nvPr/>
        </p:nvSpPr>
        <p:spPr>
          <a:xfrm>
            <a:off x="8074152" y="30815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DC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3" name="Google Shape;783;p25"/>
          <p:cNvSpPr/>
          <p:nvPr/>
        </p:nvSpPr>
        <p:spPr>
          <a:xfrm>
            <a:off x="8567928" y="305409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Remaining error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4" name="Google Shape;784;p25"/>
          <p:cNvSpPr/>
          <p:nvPr/>
        </p:nvSpPr>
        <p:spPr>
          <a:xfrm>
            <a:off x="8567928" y="33832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mistakes are Sitting ↔ Standing, both near-DC.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7909560" y="4251960"/>
            <a:ext cx="3246120" cy="1097280"/>
          </a:xfrm>
          <a:prstGeom prst="roundRect">
            <a:avLst>
              <a:gd fmla="val 666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5"/>
          <p:cNvSpPr/>
          <p:nvPr/>
        </p:nvSpPr>
        <p:spPr>
          <a:xfrm>
            <a:off x="8074152" y="441655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5"/>
          <p:cNvSpPr/>
          <p:nvPr/>
        </p:nvSpPr>
        <p:spPr>
          <a:xfrm>
            <a:off x="8074152" y="445312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8" name="Google Shape;788;p25"/>
          <p:cNvSpPr/>
          <p:nvPr/>
        </p:nvSpPr>
        <p:spPr>
          <a:xfrm>
            <a:off x="8567928" y="442569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Laying solved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8567928" y="4754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Laying is almost perfect because gravity orientation is distinct.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0" name="Google Shape;790;p25"/>
          <p:cNvSpPr/>
          <p:nvPr/>
        </p:nvSpPr>
        <p:spPr>
          <a:xfrm>
            <a:off x="914400" y="5989320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Quattrocento Sans"/>
              <a:buNone/>
            </a:pPr>
            <a:r>
              <a:rPr b="1" i="0" lang="en-US" sz="12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confusion matrix matches the EDA: energy separates groups; gravity orientation separates postures.</a:t>
            </a:r>
            <a:endParaRPr b="0" i="0" sz="12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7" name="Google Shape;797;p26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8" name="Google Shape;798;p26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 · INTERPRETATION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Fourier+Transformer works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822960" y="1188720"/>
            <a:ext cx="3246120" cy="1325880"/>
          </a:xfrm>
          <a:prstGeom prst="roundRect">
            <a:avLst>
              <a:gd fmla="val 551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6"/>
          <p:cNvSpPr/>
          <p:nvPr/>
        </p:nvSpPr>
        <p:spPr>
          <a:xfrm>
            <a:off x="987552" y="13533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6"/>
          <p:cNvSpPr/>
          <p:nvPr/>
        </p:nvSpPr>
        <p:spPr>
          <a:xfrm>
            <a:off x="987552" y="13898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4" name="Google Shape;804;p26"/>
          <p:cNvSpPr/>
          <p:nvPr/>
        </p:nvSpPr>
        <p:spPr>
          <a:xfrm>
            <a:off x="1481328" y="13624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branch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5" name="Google Shape;805;p26"/>
          <p:cNvSpPr/>
          <p:nvPr/>
        </p:nvSpPr>
        <p:spPr>
          <a:xfrm>
            <a:off x="1481328" y="169164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Learns temporal dynamics, gait phase and local motion patterns from the raw sequence.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6" name="Google Shape;806;p26"/>
          <p:cNvSpPr/>
          <p:nvPr/>
        </p:nvSpPr>
        <p:spPr>
          <a:xfrm>
            <a:off x="4480560" y="1188720"/>
            <a:ext cx="3246120" cy="1325880"/>
          </a:xfrm>
          <a:prstGeom prst="roundRect">
            <a:avLst>
              <a:gd fmla="val 551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6"/>
          <p:cNvSpPr/>
          <p:nvPr/>
        </p:nvSpPr>
        <p:spPr>
          <a:xfrm>
            <a:off x="4645152" y="13533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6"/>
          <p:cNvSpPr/>
          <p:nvPr/>
        </p:nvSpPr>
        <p:spPr>
          <a:xfrm>
            <a:off x="4645152" y="13898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9" name="Google Shape;809;p26"/>
          <p:cNvSpPr/>
          <p:nvPr/>
        </p:nvSpPr>
        <p:spPr>
          <a:xfrm>
            <a:off x="5138928" y="13624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Frequency branch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0" name="Google Shape;810;p26"/>
          <p:cNvSpPr/>
          <p:nvPr/>
        </p:nvSpPr>
        <p:spPr>
          <a:xfrm>
            <a:off x="5138928" y="169164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Captures gait cadence and low-frequency/DC gravity signature.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1" name="Google Shape;811;p26"/>
          <p:cNvSpPr/>
          <p:nvPr/>
        </p:nvSpPr>
        <p:spPr>
          <a:xfrm>
            <a:off x="8138160" y="1188720"/>
            <a:ext cx="3246120" cy="1325880"/>
          </a:xfrm>
          <a:prstGeom prst="roundRect">
            <a:avLst>
              <a:gd fmla="val 551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6"/>
          <p:cNvSpPr/>
          <p:nvPr/>
        </p:nvSpPr>
        <p:spPr>
          <a:xfrm>
            <a:off x="8302752" y="13533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6"/>
          <p:cNvSpPr/>
          <p:nvPr/>
        </p:nvSpPr>
        <p:spPr>
          <a:xfrm>
            <a:off x="8302752" y="13898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4" name="Google Shape;814;p26"/>
          <p:cNvSpPr/>
          <p:nvPr/>
        </p:nvSpPr>
        <p:spPr>
          <a:xfrm>
            <a:off x="8796528" y="13624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 fusion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5" name="Google Shape;815;p26"/>
          <p:cNvSpPr/>
          <p:nvPr/>
        </p:nvSpPr>
        <p:spPr>
          <a:xfrm>
            <a:off x="8796528" y="169164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Combines complementary evidence instead of forcing one representation to do everything.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6" name="Google Shape;816;p26"/>
          <p:cNvSpPr/>
          <p:nvPr/>
        </p:nvSpPr>
        <p:spPr>
          <a:xfrm>
            <a:off x="822960" y="2971800"/>
            <a:ext cx="4983480" cy="2514600"/>
          </a:xfrm>
          <a:prstGeom prst="roundRect">
            <a:avLst>
              <a:gd fmla="val 2909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fft_spectra.png" id="817" name="Google Shape;8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382" y="3044952"/>
            <a:ext cx="4096636" cy="209397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6"/>
          <p:cNvSpPr/>
          <p:nvPr/>
        </p:nvSpPr>
        <p:spPr>
          <a:xfrm>
            <a:off x="987552" y="5184648"/>
            <a:ext cx="46542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FFT explains dynamic activity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6355080" y="2971800"/>
            <a:ext cx="4983480" cy="2514600"/>
          </a:xfrm>
          <a:prstGeom prst="roundRect">
            <a:avLst>
              <a:gd fmla="val 2909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da_gravity_orientation.png" id="820" name="Google Shape;82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015" y="3044952"/>
            <a:ext cx="2759611" cy="2093976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26"/>
          <p:cNvSpPr/>
          <p:nvPr/>
        </p:nvSpPr>
        <p:spPr>
          <a:xfrm>
            <a:off x="6519672" y="5184648"/>
            <a:ext cx="46542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Gravity explains static posture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2" name="Google Shape;822;p26"/>
          <p:cNvSpPr/>
          <p:nvPr/>
        </p:nvSpPr>
        <p:spPr>
          <a:xfrm>
            <a:off x="1965960" y="594360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 did not just describe the data; it directly shaped the model architecture.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9" name="Google Shape;829;p27"/>
          <p:cNvCxnSpPr/>
          <p:nvPr/>
        </p:nvCxnSpPr>
        <p:spPr>
          <a:xfrm>
            <a:off x="5074920" y="2240280"/>
            <a:ext cx="2057400" cy="0"/>
          </a:xfrm>
          <a:prstGeom prst="straightConnector1">
            <a:avLst/>
          </a:prstGeom>
          <a:noFill/>
          <a:ln cap="flat" cmpd="sng" w="17775">
            <a:solidFill>
              <a:srgbClr val="22D3EE">
                <a:alpha val="9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0" name="Google Shape;830;p27"/>
          <p:cNvSpPr/>
          <p:nvPr/>
        </p:nvSpPr>
        <p:spPr>
          <a:xfrm>
            <a:off x="1828800" y="2514600"/>
            <a:ext cx="8531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400"/>
              <a:buFont typeface="Quattrocento Sans"/>
              <a:buNone/>
            </a:pPr>
            <a:r>
              <a:rPr b="0" i="0" lang="en-US" sz="34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3: Deployment &amp; Demo</a:t>
            </a:r>
            <a:endParaRPr b="0" i="0" sz="3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3611880" y="315468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Presented by Ilay Damari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8" name="Google Shape;838;p28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9" name="Google Shape;839;p28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 · DEPLOYMENT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Deployment: self-contained Docker image on RunPod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1" name="Google Shape;841;p28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2" name="Google Shape;842;p28"/>
          <p:cNvSpPr/>
          <p:nvPr/>
        </p:nvSpPr>
        <p:spPr>
          <a:xfrm>
            <a:off x="777240" y="1097280"/>
            <a:ext cx="6583680" cy="4709160"/>
          </a:xfrm>
          <a:prstGeom prst="roundRect">
            <a:avLst>
              <a:gd fmla="val 155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ploy_docker_architecture.png" id="843" name="Google Shape;8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1378736"/>
            <a:ext cx="6437376" cy="3871927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28"/>
          <p:cNvSpPr/>
          <p:nvPr/>
        </p:nvSpPr>
        <p:spPr>
          <a:xfrm>
            <a:off x="941832" y="5504688"/>
            <a:ext cx="6254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 bundles API, model, preprocessing and artifacts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5" name="Google Shape;845;p28"/>
          <p:cNvSpPr/>
          <p:nvPr/>
        </p:nvSpPr>
        <p:spPr>
          <a:xfrm>
            <a:off x="7818120" y="1417320"/>
            <a:ext cx="3246120" cy="1051560"/>
          </a:xfrm>
          <a:prstGeom prst="roundRect">
            <a:avLst>
              <a:gd fmla="val 695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8"/>
          <p:cNvSpPr/>
          <p:nvPr/>
        </p:nvSpPr>
        <p:spPr>
          <a:xfrm>
            <a:off x="798271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8"/>
          <p:cNvSpPr/>
          <p:nvPr/>
        </p:nvSpPr>
        <p:spPr>
          <a:xfrm>
            <a:off x="798271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IMG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8" name="Google Shape;848;p28"/>
          <p:cNvSpPr/>
          <p:nvPr/>
        </p:nvSpPr>
        <p:spPr>
          <a:xfrm>
            <a:off x="8476488" y="15910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Self-contained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9" name="Google Shape;849;p28"/>
          <p:cNvSpPr/>
          <p:nvPr/>
        </p:nvSpPr>
        <p:spPr>
          <a:xfrm>
            <a:off x="8476488" y="192024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Flask API, model loading, preprocessing and checkpoint live together.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0" name="Google Shape;850;p28"/>
          <p:cNvSpPr/>
          <p:nvPr/>
        </p:nvSpPr>
        <p:spPr>
          <a:xfrm>
            <a:off x="7818120" y="2788920"/>
            <a:ext cx="3246120" cy="1051560"/>
          </a:xfrm>
          <a:prstGeom prst="roundRect">
            <a:avLst>
              <a:gd fmla="val 695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8"/>
          <p:cNvSpPr/>
          <p:nvPr/>
        </p:nvSpPr>
        <p:spPr>
          <a:xfrm>
            <a:off x="7982712" y="29535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8"/>
          <p:cNvSpPr/>
          <p:nvPr/>
        </p:nvSpPr>
        <p:spPr>
          <a:xfrm>
            <a:off x="7982712" y="29900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☁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8476488" y="29626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execution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4" name="Google Shape;854;p28"/>
          <p:cNvSpPr/>
          <p:nvPr/>
        </p:nvSpPr>
        <p:spPr>
          <a:xfrm>
            <a:off x="8476488" y="329184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Hub image is pulled and executed on a RunPod instance.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5" name="Google Shape;855;p28"/>
          <p:cNvSpPr/>
          <p:nvPr/>
        </p:nvSpPr>
        <p:spPr>
          <a:xfrm>
            <a:off x="7818120" y="4160520"/>
            <a:ext cx="3246120" cy="1051560"/>
          </a:xfrm>
          <a:prstGeom prst="roundRect">
            <a:avLst>
              <a:gd fmla="val 6957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8"/>
          <p:cNvSpPr/>
          <p:nvPr/>
        </p:nvSpPr>
        <p:spPr>
          <a:xfrm>
            <a:off x="7982712" y="43251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8"/>
          <p:cNvSpPr/>
          <p:nvPr/>
        </p:nvSpPr>
        <p:spPr>
          <a:xfrm>
            <a:off x="7982712" y="43616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8" name="Google Shape;858;p28"/>
          <p:cNvSpPr/>
          <p:nvPr/>
        </p:nvSpPr>
        <p:spPr>
          <a:xfrm>
            <a:off x="8476488" y="43342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interface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9" name="Google Shape;859;p28"/>
          <p:cNvSpPr/>
          <p:nvPr/>
        </p:nvSpPr>
        <p:spPr>
          <a:xfrm>
            <a:off x="8476488" y="466344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 5050 serves dashboard, /data ingestion and /state polling.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6" name="Google Shape;866;p29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7" name="Google Shape;867;p29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 · DEPLOYMENT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8" name="Google Shape;868;p29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inference pipeline: phone stream to dashboard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9" name="Google Shape;869;p29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0" name="Google Shape;870;p29"/>
          <p:cNvSpPr/>
          <p:nvPr/>
        </p:nvSpPr>
        <p:spPr>
          <a:xfrm>
            <a:off x="685800" y="1097280"/>
            <a:ext cx="10835640" cy="3108960"/>
          </a:xfrm>
          <a:prstGeom prst="roundRect">
            <a:avLst>
              <a:gd fmla="val 2353" name="adj"/>
            </a:avLst>
          </a:prstGeom>
          <a:solidFill>
            <a:srgbClr val="0B1F35"/>
          </a:solidFill>
          <a:ln cap="flat" cmpd="sng" w="10150">
            <a:solidFill>
              <a:srgbClr val="1E5A82">
                <a:alpha val="8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ploy_inference_flow.png" id="871" name="Google Shape;8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556" y="1170432"/>
            <a:ext cx="7920128" cy="2688336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9"/>
          <p:cNvSpPr/>
          <p:nvPr/>
        </p:nvSpPr>
        <p:spPr>
          <a:xfrm>
            <a:off x="850392" y="3904488"/>
            <a:ext cx="10506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880"/>
              <a:buFont typeface="Quattrocento Sans"/>
              <a:buNone/>
            </a:pPr>
            <a:r>
              <a:rPr b="0" i="0" lang="en-US" sz="88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request → preprocessing → model → smoothed dashboard prediction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3" name="Google Shape;873;p29"/>
          <p:cNvSpPr/>
          <p:nvPr/>
        </p:nvSpPr>
        <p:spPr>
          <a:xfrm>
            <a:off x="1143000" y="48188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4" name="Google Shape;874;p29"/>
          <p:cNvSpPr/>
          <p:nvPr/>
        </p:nvSpPr>
        <p:spPr>
          <a:xfrm>
            <a:off x="1472184" y="4800600"/>
            <a:ext cx="9500616" cy="28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Phone HTTP-POSTs accelerometer + gyroscope at about 50 Hz to /data.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1143000" y="51236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6" name="Google Shape;876;p29"/>
          <p:cNvSpPr/>
          <p:nvPr/>
        </p:nvSpPr>
        <p:spPr>
          <a:xfrm>
            <a:off x="1472184" y="5105400"/>
            <a:ext cx="9500616" cy="28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 buffers the last 2.56 seconds, resamples, computes body acceleration and applies saved train stats.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7" name="Google Shape;877;p29"/>
          <p:cNvSpPr/>
          <p:nvPr/>
        </p:nvSpPr>
        <p:spPr>
          <a:xfrm>
            <a:off x="1143000" y="54284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8" name="Google Shape;878;p29"/>
          <p:cNvSpPr/>
          <p:nvPr/>
        </p:nvSpPr>
        <p:spPr>
          <a:xfrm>
            <a:off x="1472184" y="5410200"/>
            <a:ext cx="9500616" cy="28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returns six probabilities; dashboard uses EMA smoothing for a stable live demo.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0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6" name="Google Shape;886;p30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7" name="Google Shape;887;p30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 checkpoint 4: inference smoke test and demo fallback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8" name="Google Shape;888;p30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9" name="Google Shape;889;p30"/>
          <p:cNvSpPr/>
          <p:nvPr/>
        </p:nvSpPr>
        <p:spPr>
          <a:xfrm>
            <a:off x="960120" y="1554480"/>
            <a:ext cx="10287000" cy="3611880"/>
          </a:xfrm>
          <a:prstGeom prst="roundRect">
            <a:avLst>
              <a:gd fmla="val 2025" name="adj"/>
            </a:avLst>
          </a:prstGeom>
          <a:solidFill>
            <a:srgbClr val="0B1F35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0"/>
          <p:cNvSpPr/>
          <p:nvPr/>
        </p:nvSpPr>
        <p:spPr>
          <a:xfrm>
            <a:off x="1234440" y="1828800"/>
            <a:ext cx="9738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NOTEBOOK CHECKPOINT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1" name="Google Shape;891;p30"/>
          <p:cNvSpPr/>
          <p:nvPr/>
        </p:nvSpPr>
        <p:spPr>
          <a:xfrm>
            <a:off x="1508760" y="224028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HAR_HW4_display.ipynb · Live inference section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2" name="Google Shape;892;p30"/>
          <p:cNvSpPr/>
          <p:nvPr/>
        </p:nvSpPr>
        <p:spPr>
          <a:xfrm>
            <a:off x="1965960" y="2926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50"/>
              <a:buFont typeface="Quattrocento Sans"/>
              <a:buNone/>
            </a:pPr>
            <a:r>
              <a:rPr b="1" i="0" lang="en-US" sz="145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 or show the pre-executed sample-window inference output</a:t>
            </a:r>
            <a:endParaRPr b="0" i="0" sz="14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1828800" y="3547872"/>
            <a:ext cx="8549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proves the workshop can finish on time even if RunPod/network is unavailable.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4" name="Google Shape;894;p30"/>
          <p:cNvSpPr/>
          <p:nvPr/>
        </p:nvSpPr>
        <p:spPr>
          <a:xfrm>
            <a:off x="1828800" y="4251960"/>
            <a:ext cx="8549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67E8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Then open the live dashboard URL if available.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1" name="Google Shape;901;p31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31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 · DEMO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3" name="Google Shape;903;p31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 plan: primary path plus fallback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4" name="Google Shape;904;p31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05" name="Google Shape;905;p31"/>
          <p:cNvCxnSpPr/>
          <p:nvPr/>
        </p:nvCxnSpPr>
        <p:spPr>
          <a:xfrm>
            <a:off x="1874520" y="2834640"/>
            <a:ext cx="1828800" cy="0"/>
          </a:xfrm>
          <a:prstGeom prst="straightConnector1">
            <a:avLst/>
          </a:prstGeom>
          <a:noFill/>
          <a:ln cap="flat" cmpd="sng" w="15225">
            <a:solidFill>
              <a:srgbClr val="22D3E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6" name="Google Shape;906;p31"/>
          <p:cNvCxnSpPr/>
          <p:nvPr/>
        </p:nvCxnSpPr>
        <p:spPr>
          <a:xfrm>
            <a:off x="4572000" y="2834640"/>
            <a:ext cx="1828800" cy="0"/>
          </a:xfrm>
          <a:prstGeom prst="straightConnector1">
            <a:avLst/>
          </a:prstGeom>
          <a:noFill/>
          <a:ln cap="flat" cmpd="sng" w="15225">
            <a:solidFill>
              <a:srgbClr val="22D3E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7" name="Google Shape;907;p31"/>
          <p:cNvCxnSpPr/>
          <p:nvPr/>
        </p:nvCxnSpPr>
        <p:spPr>
          <a:xfrm>
            <a:off x="7269480" y="2834640"/>
            <a:ext cx="1828800" cy="0"/>
          </a:xfrm>
          <a:prstGeom prst="straightConnector1">
            <a:avLst/>
          </a:prstGeom>
          <a:noFill/>
          <a:ln cap="flat" cmpd="sng" w="15225">
            <a:solidFill>
              <a:srgbClr val="22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8" name="Google Shape;908;p31"/>
          <p:cNvSpPr/>
          <p:nvPr/>
        </p:nvSpPr>
        <p:spPr>
          <a:xfrm>
            <a:off x="777240" y="2103120"/>
            <a:ext cx="2057400" cy="1417320"/>
          </a:xfrm>
          <a:prstGeom prst="roundRect">
            <a:avLst>
              <a:gd fmla="val 5161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1"/>
          <p:cNvSpPr/>
          <p:nvPr/>
        </p:nvSpPr>
        <p:spPr>
          <a:xfrm>
            <a:off x="941832" y="22677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1"/>
          <p:cNvSpPr/>
          <p:nvPr/>
        </p:nvSpPr>
        <p:spPr>
          <a:xfrm>
            <a:off x="941832" y="2304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1" name="Google Shape;911;p31"/>
          <p:cNvSpPr/>
          <p:nvPr/>
        </p:nvSpPr>
        <p:spPr>
          <a:xfrm>
            <a:off x="1435608" y="2276856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Phone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2" name="Google Shape;912;p31"/>
          <p:cNvSpPr/>
          <p:nvPr/>
        </p:nvSpPr>
        <p:spPr>
          <a:xfrm>
            <a:off x="1435608" y="26060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Logger streams accel + gyro.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3" name="Google Shape;913;p31"/>
          <p:cNvSpPr/>
          <p:nvPr/>
        </p:nvSpPr>
        <p:spPr>
          <a:xfrm>
            <a:off x="3474720" y="2103120"/>
            <a:ext cx="2057400" cy="1417320"/>
          </a:xfrm>
          <a:prstGeom prst="roundRect">
            <a:avLst>
              <a:gd fmla="val 5161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1"/>
          <p:cNvSpPr/>
          <p:nvPr/>
        </p:nvSpPr>
        <p:spPr>
          <a:xfrm>
            <a:off x="3639312" y="22677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1"/>
          <p:cNvSpPr/>
          <p:nvPr/>
        </p:nvSpPr>
        <p:spPr>
          <a:xfrm>
            <a:off x="3639312" y="2304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6" name="Google Shape;916;p31"/>
          <p:cNvSpPr/>
          <p:nvPr/>
        </p:nvSpPr>
        <p:spPr>
          <a:xfrm>
            <a:off x="4133088" y="2276856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RunPod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7" name="Google Shape;917;p31"/>
          <p:cNvSpPr/>
          <p:nvPr/>
        </p:nvSpPr>
        <p:spPr>
          <a:xfrm>
            <a:off x="4133088" y="26060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HTTPS service on :5050.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8" name="Google Shape;918;p31"/>
          <p:cNvSpPr/>
          <p:nvPr/>
        </p:nvSpPr>
        <p:spPr>
          <a:xfrm>
            <a:off x="6172200" y="2103120"/>
            <a:ext cx="2057400" cy="1417320"/>
          </a:xfrm>
          <a:prstGeom prst="roundRect">
            <a:avLst>
              <a:gd fmla="val 5161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1"/>
          <p:cNvSpPr/>
          <p:nvPr/>
        </p:nvSpPr>
        <p:spPr>
          <a:xfrm>
            <a:off x="6336792" y="22677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1"/>
          <p:cNvSpPr/>
          <p:nvPr/>
        </p:nvSpPr>
        <p:spPr>
          <a:xfrm>
            <a:off x="6336792" y="2304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1" name="Google Shape;921;p31"/>
          <p:cNvSpPr/>
          <p:nvPr/>
        </p:nvSpPr>
        <p:spPr>
          <a:xfrm>
            <a:off x="6830568" y="2276856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2" name="Google Shape;922;p31"/>
          <p:cNvSpPr/>
          <p:nvPr/>
        </p:nvSpPr>
        <p:spPr>
          <a:xfrm>
            <a:off x="6830568" y="26060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Fourier+Transformer predicts live.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3" name="Google Shape;923;p31"/>
          <p:cNvSpPr/>
          <p:nvPr/>
        </p:nvSpPr>
        <p:spPr>
          <a:xfrm>
            <a:off x="8869680" y="2103120"/>
            <a:ext cx="2057400" cy="1417320"/>
          </a:xfrm>
          <a:prstGeom prst="roundRect">
            <a:avLst>
              <a:gd fmla="val 5161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1"/>
          <p:cNvSpPr/>
          <p:nvPr/>
        </p:nvSpPr>
        <p:spPr>
          <a:xfrm>
            <a:off x="9034272" y="22677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1"/>
          <p:cNvSpPr/>
          <p:nvPr/>
        </p:nvSpPr>
        <p:spPr>
          <a:xfrm>
            <a:off x="9034272" y="23042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6" name="Google Shape;926;p31"/>
          <p:cNvSpPr/>
          <p:nvPr/>
        </p:nvSpPr>
        <p:spPr>
          <a:xfrm>
            <a:off x="9528048" y="2276856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7" name="Google Shape;927;p31"/>
          <p:cNvSpPr/>
          <p:nvPr/>
        </p:nvSpPr>
        <p:spPr>
          <a:xfrm>
            <a:off x="9528048" y="26060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shows activity state.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8" name="Google Shape;928;p31"/>
          <p:cNvSpPr/>
          <p:nvPr/>
        </p:nvSpPr>
        <p:spPr>
          <a:xfrm>
            <a:off x="1325880" y="4709160"/>
            <a:ext cx="9555480" cy="868680"/>
          </a:xfrm>
          <a:prstGeom prst="roundRect">
            <a:avLst>
              <a:gd fmla="val 8421" name="adj"/>
            </a:avLst>
          </a:prstGeom>
          <a:solidFill>
            <a:srgbClr val="152D26"/>
          </a:solidFill>
          <a:ln cap="flat" cmpd="sng" w="127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1"/>
          <p:cNvSpPr/>
          <p:nvPr/>
        </p:nvSpPr>
        <p:spPr>
          <a:xfrm>
            <a:off x="1600200" y="5010912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20"/>
              <a:buFont typeface="Quattrocento Sans"/>
              <a:buNone/>
            </a:pPr>
            <a:r>
              <a:rPr b="1" i="0" lang="en-US" sz="132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Fallback: use sample_windows.npy inside the notebook to run the same model locally if live cloud connectivity fails.</a:t>
            </a:r>
            <a:endParaRPr b="0" i="0" sz="13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6" name="Google Shape;936;p32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32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 3 · DEPLOYMENT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 risk: cross-device orientation shift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822960" y="1371600"/>
            <a:ext cx="3246120" cy="1234440"/>
          </a:xfrm>
          <a:prstGeom prst="roundRect">
            <a:avLst>
              <a:gd fmla="val 5926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2"/>
          <p:cNvSpPr/>
          <p:nvPr/>
        </p:nvSpPr>
        <p:spPr>
          <a:xfrm>
            <a:off x="987552" y="153619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2"/>
          <p:cNvSpPr/>
          <p:nvPr/>
        </p:nvSpPr>
        <p:spPr>
          <a:xfrm>
            <a:off x="987552" y="15727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1481328" y="154533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 risk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4" name="Google Shape;944;p32"/>
          <p:cNvSpPr/>
          <p:nvPr/>
        </p:nvSpPr>
        <p:spPr>
          <a:xfrm>
            <a:off x="1481328" y="187452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new phone position changes which axis gravity falls on.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5" name="Google Shape;945;p32"/>
          <p:cNvSpPr/>
          <p:nvPr/>
        </p:nvSpPr>
        <p:spPr>
          <a:xfrm>
            <a:off x="4480560" y="1371600"/>
            <a:ext cx="3246120" cy="1234440"/>
          </a:xfrm>
          <a:prstGeom prst="roundRect">
            <a:avLst>
              <a:gd fmla="val 5926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2"/>
          <p:cNvSpPr/>
          <p:nvPr/>
        </p:nvSpPr>
        <p:spPr>
          <a:xfrm>
            <a:off x="4645152" y="153619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2"/>
          <p:cNvSpPr/>
          <p:nvPr/>
        </p:nvSpPr>
        <p:spPr>
          <a:xfrm>
            <a:off x="4645152" y="15727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5138928" y="154533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9" name="Google Shape;949;p32"/>
          <p:cNvSpPr/>
          <p:nvPr/>
        </p:nvSpPr>
        <p:spPr>
          <a:xfrm>
            <a:off x="5138928" y="187452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confidence, calibration and sudden prediction drift in the live stream.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8138160" y="1371600"/>
            <a:ext cx="3246120" cy="1234440"/>
          </a:xfrm>
          <a:prstGeom prst="roundRect">
            <a:avLst>
              <a:gd fmla="val 5926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2"/>
          <p:cNvSpPr/>
          <p:nvPr/>
        </p:nvSpPr>
        <p:spPr>
          <a:xfrm>
            <a:off x="8302752" y="153619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2"/>
          <p:cNvSpPr/>
          <p:nvPr/>
        </p:nvSpPr>
        <p:spPr>
          <a:xfrm>
            <a:off x="8302752" y="157276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3" name="Google Shape;953;p32"/>
          <p:cNvSpPr/>
          <p:nvPr/>
        </p:nvSpPr>
        <p:spPr>
          <a:xfrm>
            <a:off x="8796528" y="154533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Retrain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8796528" y="187452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Collect in-the-wild data from more users and devices.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5" name="Google Shape;955;p32"/>
          <p:cNvSpPr/>
          <p:nvPr/>
        </p:nvSpPr>
        <p:spPr>
          <a:xfrm>
            <a:off x="1143000" y="36301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6" name="Google Shape;956;p32"/>
          <p:cNvSpPr/>
          <p:nvPr/>
        </p:nvSpPr>
        <p:spPr>
          <a:xfrm>
            <a:off x="1472184" y="3611880"/>
            <a:ext cx="9546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model work: Conformer / TCN / self-supervised pretraining.</a:t>
            </a:r>
            <a:endParaRPr b="0" i="0" sz="12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7" name="Google Shape;957;p32"/>
          <p:cNvSpPr/>
          <p:nvPr/>
        </p:nvSpPr>
        <p:spPr>
          <a:xfrm>
            <a:off x="1143000" y="39959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8" name="Google Shape;958;p32"/>
          <p:cNvSpPr/>
          <p:nvPr/>
        </p:nvSpPr>
        <p:spPr>
          <a:xfrm>
            <a:off x="1472184" y="3977640"/>
            <a:ext cx="9546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Deployment work: quantization, distillation and on-device inference.</a:t>
            </a:r>
            <a:endParaRPr b="0" i="0" sz="12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9" name="Google Shape;959;p32"/>
          <p:cNvSpPr/>
          <p:nvPr/>
        </p:nvSpPr>
        <p:spPr>
          <a:xfrm>
            <a:off x="1143000" y="43616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2000"/>
              <a:buFont typeface="Quattrocento Sans"/>
              <a:buNone/>
            </a:pPr>
            <a:r>
              <a:rPr b="1" i="0" lang="en-US" sz="20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0" name="Google Shape;960;p32"/>
          <p:cNvSpPr/>
          <p:nvPr/>
        </p:nvSpPr>
        <p:spPr>
          <a:xfrm>
            <a:off x="1472184" y="4343400"/>
            <a:ext cx="9546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50"/>
              <a:buFont typeface="Quattrocento Sans"/>
              <a:buNone/>
            </a:pPr>
            <a:r>
              <a:rPr b="0" i="0" lang="en-US" sz="125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work: cross-dataset evaluation and transition detection.</a:t>
            </a:r>
            <a:endParaRPr b="0" i="0" sz="12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1" name="Google Shape;961;p32"/>
          <p:cNvSpPr/>
          <p:nvPr/>
        </p:nvSpPr>
        <p:spPr>
          <a:xfrm>
            <a:off x="1508760" y="55321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Honest limitation: UCI HAR is controlled and waist-mounted; real phones introduce placement shift.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8" name="Google Shape;968;p33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9" name="Google Shape;969;p33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0" name="Google Shape;970;p33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Conclusion: research-quality evaluation, deployable prototype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1" name="Google Shape;971;p33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2" name="Google Shape;972;p33"/>
          <p:cNvSpPr/>
          <p:nvPr/>
        </p:nvSpPr>
        <p:spPr>
          <a:xfrm>
            <a:off x="822960" y="1417320"/>
            <a:ext cx="3246120" cy="1463040"/>
          </a:xfrm>
          <a:prstGeom prst="roundRect">
            <a:avLst>
              <a:gd fmla="val 50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3"/>
          <p:cNvSpPr/>
          <p:nvPr/>
        </p:nvSpPr>
        <p:spPr>
          <a:xfrm>
            <a:off x="98755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3"/>
          <p:cNvSpPr/>
          <p:nvPr/>
        </p:nvSpPr>
        <p:spPr>
          <a:xfrm>
            <a:off x="98755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5" name="Google Shape;975;p33"/>
          <p:cNvSpPr/>
          <p:nvPr/>
        </p:nvSpPr>
        <p:spPr>
          <a:xfrm>
            <a:off x="1481328" y="15910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Transformers work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6" name="Google Shape;976;p33"/>
          <p:cNvSpPr/>
          <p:nvPr/>
        </p:nvSpPr>
        <p:spPr>
          <a:xfrm>
            <a:off x="1481328" y="192024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Fourier+Transformer reaches 94.8% accuracy / 94.77% macro-F1 on unseen subjects.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4480560" y="1417320"/>
            <a:ext cx="3246120" cy="1463040"/>
          </a:xfrm>
          <a:prstGeom prst="roundRect">
            <a:avLst>
              <a:gd fmla="val 50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3"/>
          <p:cNvSpPr/>
          <p:nvPr/>
        </p:nvSpPr>
        <p:spPr>
          <a:xfrm>
            <a:off x="464515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3"/>
          <p:cNvSpPr/>
          <p:nvPr/>
        </p:nvSpPr>
        <p:spPr>
          <a:xfrm>
            <a:off x="464515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0" name="Google Shape;980;p33"/>
          <p:cNvSpPr/>
          <p:nvPr/>
        </p:nvSpPr>
        <p:spPr>
          <a:xfrm>
            <a:off x="5138928" y="15910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Frequency matters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1" name="Google Shape;981;p33"/>
          <p:cNvSpPr/>
          <p:nvPr/>
        </p:nvSpPr>
        <p:spPr>
          <a:xfrm>
            <a:off x="5138928" y="192024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FFT branch explains gait cadence and reduces static posture ambiguity.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8138160" y="1417320"/>
            <a:ext cx="3246120" cy="1463040"/>
          </a:xfrm>
          <a:prstGeom prst="roundRect">
            <a:avLst>
              <a:gd fmla="val 5000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3"/>
          <p:cNvSpPr/>
          <p:nvPr/>
        </p:nvSpPr>
        <p:spPr>
          <a:xfrm>
            <a:off x="8302752" y="158191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3"/>
          <p:cNvSpPr/>
          <p:nvPr/>
        </p:nvSpPr>
        <p:spPr>
          <a:xfrm>
            <a:off x="8302752" y="161848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5" name="Google Shape;985;p33"/>
          <p:cNvSpPr/>
          <p:nvPr/>
        </p:nvSpPr>
        <p:spPr>
          <a:xfrm>
            <a:off x="8796528" y="159105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deploys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6" name="Google Shape;986;p33"/>
          <p:cNvSpPr/>
          <p:nvPr/>
        </p:nvSpPr>
        <p:spPr>
          <a:xfrm>
            <a:off x="8796528" y="192024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+ Flask + RunPod provide a real-time CPU inference demo.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7" name="Google Shape;987;p33"/>
          <p:cNvSpPr/>
          <p:nvPr/>
        </p:nvSpPr>
        <p:spPr>
          <a:xfrm>
            <a:off x="1234440" y="4114800"/>
            <a:ext cx="9692640" cy="868680"/>
          </a:xfrm>
          <a:prstGeom prst="roundRect">
            <a:avLst>
              <a:gd fmla="val 8421" name="adj"/>
            </a:avLst>
          </a:prstGeom>
          <a:solidFill>
            <a:srgbClr val="102B47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3"/>
          <p:cNvSpPr/>
          <p:nvPr/>
        </p:nvSpPr>
        <p:spPr>
          <a:xfrm>
            <a:off x="1554480" y="4434840"/>
            <a:ext cx="9052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A3E6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project story is closed-loop: EDA → architecture → ablation → deployment → live demo.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9" name="Google Shape;989;p33"/>
          <p:cNvSpPr/>
          <p:nvPr/>
        </p:nvSpPr>
        <p:spPr>
          <a:xfrm>
            <a:off x="1920240" y="557784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150"/>
              <a:buFont typeface="Quattrocento Sans"/>
              <a:buNone/>
            </a:pPr>
            <a:r>
              <a:rPr b="0" i="0" lang="en-US" sz="11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 and notebook reproduce the figures and results; slides are the narrative layer.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4"/>
          <p:cNvSpPr/>
          <p:nvPr/>
        </p:nvSpPr>
        <p:spPr>
          <a:xfrm>
            <a:off x="1965960" y="242316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5400"/>
              <a:buFont typeface="Quattrocento Sans"/>
              <a:buNone/>
            </a:pPr>
            <a:r>
              <a:rPr b="0" i="0" lang="en-US" sz="54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Questions?</a:t>
            </a:r>
            <a:endParaRPr b="0" i="0" sz="5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97" name="Google Shape;997;p34"/>
          <p:cNvSpPr/>
          <p:nvPr/>
        </p:nvSpPr>
        <p:spPr>
          <a:xfrm>
            <a:off x="3063240" y="3337560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400"/>
              <a:buFont typeface="Quattrocento Sans"/>
              <a:buNone/>
            </a:pPr>
            <a:r>
              <a:rPr b="0" i="0" lang="en-US" sz="14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 for your time and attention.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98" name="Google Shape;998;p34"/>
          <p:cNvCxnSpPr/>
          <p:nvPr/>
        </p:nvCxnSpPr>
        <p:spPr>
          <a:xfrm>
            <a:off x="4251960" y="3931920"/>
            <a:ext cx="3703320" cy="0"/>
          </a:xfrm>
          <a:prstGeom prst="straightConnector1">
            <a:avLst/>
          </a:prstGeom>
          <a:noFill/>
          <a:ln cap="flat" cmpd="sng" w="17775">
            <a:solidFill>
              <a:srgbClr val="22D3EE">
                <a:alpha val="9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34"/>
          <p:cNvSpPr/>
          <p:nvPr/>
        </p:nvSpPr>
        <p:spPr>
          <a:xfrm>
            <a:off x="3886200" y="4663440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1230"/>
              <a:buFont typeface="Quattrocento Sans"/>
              <a:buNone/>
            </a:pPr>
            <a:r>
              <a:rPr b="0" i="0" lang="en-US" sz="123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Almog · Daniel · Lior · Ilay</a:t>
            </a:r>
            <a:endParaRPr b="0" i="0" sz="12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11F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cap="flat" cmpd="sng" w="12700">
            <a:solidFill>
              <a:srgbClr val="06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5"/>
          <p:cNvCxnSpPr/>
          <p:nvPr/>
        </p:nvCxnSpPr>
        <p:spPr>
          <a:xfrm>
            <a:off x="502920" y="429768"/>
            <a:ext cx="0" cy="530352"/>
          </a:xfrm>
          <a:prstGeom prst="straightConnector1">
            <a:avLst/>
          </a:prstGeom>
          <a:noFill/>
          <a:ln cap="flat" cmpd="sng" w="279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7" name="Google Shape;1007;p35"/>
          <p:cNvSpPr/>
          <p:nvPr/>
        </p:nvSpPr>
        <p:spPr>
          <a:xfrm>
            <a:off x="731520" y="2926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BACKUP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8" name="Google Shape;1008;p35"/>
          <p:cNvSpPr/>
          <p:nvPr/>
        </p:nvSpPr>
        <p:spPr>
          <a:xfrm>
            <a:off x="731520" y="52120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Quattrocento Sans"/>
              <a:buNone/>
            </a:pPr>
            <a:r>
              <a:rPr b="0" i="0" lang="en-US" sz="25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Backup: references and files</a:t>
            </a:r>
            <a:endParaRPr b="0" i="0" sz="2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9" name="Google Shape;1009;p35"/>
          <p:cNvSpPr/>
          <p:nvPr/>
        </p:nvSpPr>
        <p:spPr>
          <a:xfrm>
            <a:off x="11228832" y="42976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0" name="Google Shape;1010;p35"/>
          <p:cNvSpPr/>
          <p:nvPr/>
        </p:nvSpPr>
        <p:spPr>
          <a:xfrm>
            <a:off x="822960" y="1234440"/>
            <a:ext cx="3246120" cy="1188720"/>
          </a:xfrm>
          <a:prstGeom prst="roundRect">
            <a:avLst>
              <a:gd fmla="val 6154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5"/>
          <p:cNvSpPr/>
          <p:nvPr/>
        </p:nvSpPr>
        <p:spPr>
          <a:xfrm>
            <a:off x="987552" y="139903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5"/>
          <p:cNvSpPr/>
          <p:nvPr/>
        </p:nvSpPr>
        <p:spPr>
          <a:xfrm>
            <a:off x="987552" y="14356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3" name="Google Shape;1013;p35"/>
          <p:cNvSpPr/>
          <p:nvPr/>
        </p:nvSpPr>
        <p:spPr>
          <a:xfrm>
            <a:off x="1481328" y="140817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4" name="Google Shape;1014;p35"/>
          <p:cNvSpPr/>
          <p:nvPr/>
        </p:nvSpPr>
        <p:spPr>
          <a:xfrm>
            <a:off x="1481328" y="173736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Anguita et al. (2013), UCI HAR Dataset.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5" name="Google Shape;1015;p35"/>
          <p:cNvSpPr/>
          <p:nvPr/>
        </p:nvSpPr>
        <p:spPr>
          <a:xfrm>
            <a:off x="4480560" y="1234440"/>
            <a:ext cx="3246120" cy="1188720"/>
          </a:xfrm>
          <a:prstGeom prst="roundRect">
            <a:avLst>
              <a:gd fmla="val 6154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5"/>
          <p:cNvSpPr/>
          <p:nvPr/>
        </p:nvSpPr>
        <p:spPr>
          <a:xfrm>
            <a:off x="4645152" y="139903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5"/>
          <p:cNvSpPr/>
          <p:nvPr/>
        </p:nvSpPr>
        <p:spPr>
          <a:xfrm>
            <a:off x="4645152" y="14356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8" name="Google Shape;1018;p35"/>
          <p:cNvSpPr/>
          <p:nvPr/>
        </p:nvSpPr>
        <p:spPr>
          <a:xfrm>
            <a:off x="5138928" y="140817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Transformer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9" name="Google Shape;1019;p35"/>
          <p:cNvSpPr/>
          <p:nvPr/>
        </p:nvSpPr>
        <p:spPr>
          <a:xfrm>
            <a:off x="5138928" y="173736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Vaswani et al. (2017), Attention Is All You Need.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0" name="Google Shape;1020;p35"/>
          <p:cNvSpPr/>
          <p:nvPr/>
        </p:nvSpPr>
        <p:spPr>
          <a:xfrm>
            <a:off x="8138160" y="1234440"/>
            <a:ext cx="3246120" cy="1188720"/>
          </a:xfrm>
          <a:prstGeom prst="roundRect">
            <a:avLst>
              <a:gd fmla="val 6154" name="adj"/>
            </a:avLst>
          </a:prstGeom>
          <a:solidFill>
            <a:srgbClr val="0B1F35">
              <a:alpha val="96078"/>
            </a:srgbClr>
          </a:solidFill>
          <a:ln cap="flat" cmpd="sng" w="10150">
            <a:solidFill>
              <a:srgbClr val="1E5A8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5"/>
          <p:cNvSpPr/>
          <p:nvPr/>
        </p:nvSpPr>
        <p:spPr>
          <a:xfrm>
            <a:off x="8302752" y="1399032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2B4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5"/>
          <p:cNvSpPr/>
          <p:nvPr/>
        </p:nvSpPr>
        <p:spPr>
          <a:xfrm>
            <a:off x="8302752" y="1435608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Quattrocento Sans"/>
              <a:buNone/>
            </a:pPr>
            <a:r>
              <a:rPr b="1" i="0" lang="en-US" sz="8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3" name="Google Shape;1023;p35"/>
          <p:cNvSpPr/>
          <p:nvPr/>
        </p:nvSpPr>
        <p:spPr>
          <a:xfrm>
            <a:off x="8796528" y="1408176"/>
            <a:ext cx="2423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8796528" y="173736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8C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CRISP-DM evaluation and deployment structure.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5" name="Google Shape;1025;p35"/>
          <p:cNvSpPr/>
          <p:nvPr/>
        </p:nvSpPr>
        <p:spPr>
          <a:xfrm>
            <a:off x="914400" y="3246120"/>
            <a:ext cx="5166360" cy="420624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5"/>
          <p:cNvSpPr/>
          <p:nvPr/>
        </p:nvSpPr>
        <p:spPr>
          <a:xfrm>
            <a:off x="960120" y="3273552"/>
            <a:ext cx="50749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Artifact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7" name="Google Shape;1027;p35"/>
          <p:cNvSpPr/>
          <p:nvPr/>
        </p:nvSpPr>
        <p:spPr>
          <a:xfrm>
            <a:off x="6080760" y="3246120"/>
            <a:ext cx="2583180" cy="420624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5"/>
          <p:cNvSpPr/>
          <p:nvPr/>
        </p:nvSpPr>
        <p:spPr>
          <a:xfrm>
            <a:off x="6126480" y="3273552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9" name="Google Shape;1029;p35"/>
          <p:cNvSpPr/>
          <p:nvPr/>
        </p:nvSpPr>
        <p:spPr>
          <a:xfrm>
            <a:off x="8663940" y="3246120"/>
            <a:ext cx="2583180" cy="420624"/>
          </a:xfrm>
          <a:prstGeom prst="rect">
            <a:avLst/>
          </a:prstGeom>
          <a:solidFill>
            <a:srgbClr val="102B47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5"/>
          <p:cNvSpPr/>
          <p:nvPr/>
        </p:nvSpPr>
        <p:spPr>
          <a:xfrm>
            <a:off x="8709660" y="3273552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Presenter use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1" name="Google Shape;1031;p35"/>
          <p:cNvSpPr/>
          <p:nvPr/>
        </p:nvSpPr>
        <p:spPr>
          <a:xfrm>
            <a:off x="914400" y="3666744"/>
            <a:ext cx="5166360" cy="420624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5"/>
          <p:cNvSpPr/>
          <p:nvPr/>
        </p:nvSpPr>
        <p:spPr>
          <a:xfrm>
            <a:off x="960120" y="3694176"/>
            <a:ext cx="50749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HAR_HW4_display.ipynb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3" name="Google Shape;1033;p35"/>
          <p:cNvSpPr/>
          <p:nvPr/>
        </p:nvSpPr>
        <p:spPr>
          <a:xfrm>
            <a:off x="6080760" y="3666744"/>
            <a:ext cx="2583180" cy="420624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5"/>
          <p:cNvSpPr/>
          <p:nvPr/>
        </p:nvSpPr>
        <p:spPr>
          <a:xfrm>
            <a:off x="6126480" y="3694176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Pre-executed notebook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5" name="Google Shape;1035;p35"/>
          <p:cNvSpPr/>
          <p:nvPr/>
        </p:nvSpPr>
        <p:spPr>
          <a:xfrm>
            <a:off x="8663940" y="3666744"/>
            <a:ext cx="2583180" cy="420624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5"/>
          <p:cNvSpPr/>
          <p:nvPr/>
        </p:nvSpPr>
        <p:spPr>
          <a:xfrm>
            <a:off x="8709660" y="3694176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during checkpoints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7" name="Google Shape;1037;p35"/>
          <p:cNvSpPr/>
          <p:nvPr/>
        </p:nvSpPr>
        <p:spPr>
          <a:xfrm>
            <a:off x="914400" y="4087368"/>
            <a:ext cx="5166360" cy="420624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5"/>
          <p:cNvSpPr/>
          <p:nvPr/>
        </p:nvSpPr>
        <p:spPr>
          <a:xfrm>
            <a:off x="960120" y="4114800"/>
            <a:ext cx="50749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fourier_transformer.py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9" name="Google Shape;1039;p35"/>
          <p:cNvSpPr/>
          <p:nvPr/>
        </p:nvSpPr>
        <p:spPr>
          <a:xfrm>
            <a:off x="6080760" y="4087368"/>
            <a:ext cx="2583180" cy="420624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5"/>
          <p:cNvSpPr/>
          <p:nvPr/>
        </p:nvSpPr>
        <p:spPr>
          <a:xfrm>
            <a:off x="6126480" y="4114800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loader / inference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1" name="Google Shape;1041;p35"/>
          <p:cNvSpPr/>
          <p:nvPr/>
        </p:nvSpPr>
        <p:spPr>
          <a:xfrm>
            <a:off x="8663940" y="4087368"/>
            <a:ext cx="2583180" cy="420624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5"/>
          <p:cNvSpPr/>
          <p:nvPr/>
        </p:nvSpPr>
        <p:spPr>
          <a:xfrm>
            <a:off x="8709660" y="4114800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module only if asked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3" name="Google Shape;1043;p35"/>
          <p:cNvSpPr/>
          <p:nvPr/>
        </p:nvSpPr>
        <p:spPr>
          <a:xfrm>
            <a:off x="914400" y="4507992"/>
            <a:ext cx="5166360" cy="420624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5"/>
          <p:cNvSpPr/>
          <p:nvPr/>
        </p:nvSpPr>
        <p:spPr>
          <a:xfrm>
            <a:off x="960120" y="4535424"/>
            <a:ext cx="50749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metrics.json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5" name="Google Shape;1045;p35"/>
          <p:cNvSpPr/>
          <p:nvPr/>
        </p:nvSpPr>
        <p:spPr>
          <a:xfrm>
            <a:off x="6080760" y="4507992"/>
            <a:ext cx="2583180" cy="420624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5"/>
          <p:cNvSpPr/>
          <p:nvPr/>
        </p:nvSpPr>
        <p:spPr>
          <a:xfrm>
            <a:off x="6126480" y="4535424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experiment results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7" name="Google Shape;1047;p35"/>
          <p:cNvSpPr/>
          <p:nvPr/>
        </p:nvSpPr>
        <p:spPr>
          <a:xfrm>
            <a:off x="8663940" y="4507992"/>
            <a:ext cx="2583180" cy="420624"/>
          </a:xfrm>
          <a:prstGeom prst="rect">
            <a:avLst/>
          </a:prstGeom>
          <a:solidFill>
            <a:srgbClr val="0A1B2D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5"/>
          <p:cNvSpPr/>
          <p:nvPr/>
        </p:nvSpPr>
        <p:spPr>
          <a:xfrm>
            <a:off x="8709660" y="4535424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 of plots/tables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9" name="Google Shape;1049;p35"/>
          <p:cNvSpPr/>
          <p:nvPr/>
        </p:nvSpPr>
        <p:spPr>
          <a:xfrm>
            <a:off x="914400" y="4928616"/>
            <a:ext cx="5166360" cy="420624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5"/>
          <p:cNvSpPr/>
          <p:nvPr/>
        </p:nvSpPr>
        <p:spPr>
          <a:xfrm>
            <a:off x="960120" y="4956048"/>
            <a:ext cx="50749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1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live_demo_app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1" name="Google Shape;1051;p35"/>
          <p:cNvSpPr/>
          <p:nvPr/>
        </p:nvSpPr>
        <p:spPr>
          <a:xfrm>
            <a:off x="6080760" y="4928616"/>
            <a:ext cx="2583180" cy="420624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5"/>
          <p:cNvSpPr/>
          <p:nvPr/>
        </p:nvSpPr>
        <p:spPr>
          <a:xfrm>
            <a:off x="6126480" y="4956048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Flask + Docker service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3" name="Google Shape;1053;p35"/>
          <p:cNvSpPr/>
          <p:nvPr/>
        </p:nvSpPr>
        <p:spPr>
          <a:xfrm>
            <a:off x="8663940" y="4928616"/>
            <a:ext cx="2583180" cy="420624"/>
          </a:xfrm>
          <a:prstGeom prst="rect">
            <a:avLst/>
          </a:prstGeom>
          <a:solidFill>
            <a:srgbClr val="0C243B"/>
          </a:solidFill>
          <a:ln cap="flat" cmpd="sng" w="9525">
            <a:solidFill>
              <a:srgbClr val="1A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5"/>
          <p:cNvSpPr/>
          <p:nvPr/>
        </p:nvSpPr>
        <p:spPr>
          <a:xfrm>
            <a:off x="8709660" y="4956048"/>
            <a:ext cx="24917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EF8"/>
              </a:buClr>
              <a:buSzPts val="910"/>
              <a:buFont typeface="Quattrocento Sans"/>
              <a:buNone/>
            </a:pPr>
            <a:r>
              <a:rPr b="0" i="0" lang="en-US" sz="910" u="none" cap="none" strike="noStrike">
                <a:solidFill>
                  <a:srgbClr val="E5EE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infrastructure</a:t>
            </a:r>
            <a:endParaRPr b="0" i="0" sz="9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2026-06-29T21:03:07Z</dcterms:created>
  <dc:creator>Almog Tal · Daniel Korkevados · Lior Sulshtein · Ilay Damari</dc:creator>
</cp:coreProperties>
</file>